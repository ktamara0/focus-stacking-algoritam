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4" r:id="rId6"/>
    <p:sldId id="268" r:id="rId7"/>
    <p:sldId id="269" r:id="rId8"/>
    <p:sldId id="261" r:id="rId9"/>
    <p:sldId id="266" r:id="rId10"/>
    <p:sldId id="265" r:id="rId11"/>
    <p:sldId id="267" r:id="rId12"/>
    <p:sldId id="270" r:id="rId13"/>
  </p:sldIdLst>
  <p:sldSz cx="18288000" cy="10287000"/>
  <p:notesSz cx="6858000" cy="9144000"/>
  <p:embeddedFontLst>
    <p:embeddedFont>
      <p:font typeface="Bahnschrift Condensed" panose="020B0502040204020203" pitchFamily="34" charset="0"/>
      <p:regular r:id="rId15"/>
      <p:bold r:id="rId16"/>
    </p:embeddedFon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Lato Bold" panose="020F0502020204030203" charset="0"/>
      <p:regular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oppins Bold" panose="00000800000000000000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44"/>
    <a:srgbClr val="E5E1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F37CCF-1991-4F8A-B050-4DA3677EE35D}" type="datetimeFigureOut">
              <a:rPr lang="hr-HR" smtClean="0"/>
              <a:t>4.5.2026.</a:t>
            </a:fld>
            <a:endParaRPr lang="hr-HR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3D6BA1-90C8-41E6-927E-D63101D3697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56786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3D6BA1-90C8-41E6-927E-D63101D36976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39724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8665" y="645697"/>
            <a:ext cx="16598104" cy="995428"/>
            <a:chOff x="0" y="0"/>
            <a:chExt cx="4371517" cy="2621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1517" cy="262170"/>
            </a:xfrm>
            <a:custGeom>
              <a:avLst/>
              <a:gdLst/>
              <a:ahLst/>
              <a:cxnLst/>
              <a:rect l="l" t="t" r="r" b="b"/>
              <a:pathLst>
                <a:path w="4371517" h="262170">
                  <a:moveTo>
                    <a:pt x="29852" y="0"/>
                  </a:moveTo>
                  <a:lnTo>
                    <a:pt x="4341666" y="0"/>
                  </a:lnTo>
                  <a:cubicBezTo>
                    <a:pt x="4349583" y="0"/>
                    <a:pt x="4357176" y="3145"/>
                    <a:pt x="4362774" y="8743"/>
                  </a:cubicBezTo>
                  <a:cubicBezTo>
                    <a:pt x="4368372" y="14342"/>
                    <a:pt x="4371517" y="21935"/>
                    <a:pt x="4371517" y="29852"/>
                  </a:cubicBezTo>
                  <a:lnTo>
                    <a:pt x="4371517" y="232318"/>
                  </a:lnTo>
                  <a:cubicBezTo>
                    <a:pt x="4371517" y="248805"/>
                    <a:pt x="4358152" y="262170"/>
                    <a:pt x="4341666" y="262170"/>
                  </a:cubicBezTo>
                  <a:lnTo>
                    <a:pt x="29852" y="262170"/>
                  </a:lnTo>
                  <a:cubicBezTo>
                    <a:pt x="21935" y="262170"/>
                    <a:pt x="14342" y="259025"/>
                    <a:pt x="8743" y="253427"/>
                  </a:cubicBezTo>
                  <a:cubicBezTo>
                    <a:pt x="3145" y="247829"/>
                    <a:pt x="0" y="240236"/>
                    <a:pt x="0" y="232318"/>
                  </a:cubicBezTo>
                  <a:lnTo>
                    <a:pt x="0" y="29852"/>
                  </a:lnTo>
                  <a:cubicBezTo>
                    <a:pt x="0" y="21935"/>
                    <a:pt x="3145" y="14342"/>
                    <a:pt x="8743" y="8743"/>
                  </a:cubicBezTo>
                  <a:cubicBezTo>
                    <a:pt x="14342" y="3145"/>
                    <a:pt x="21935" y="0"/>
                    <a:pt x="29852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71517" cy="300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651837" y="289333"/>
            <a:ext cx="12112509" cy="8707633"/>
          </a:xfrm>
          <a:custGeom>
            <a:avLst/>
            <a:gdLst/>
            <a:ahLst/>
            <a:cxnLst/>
            <a:rect l="l" t="t" r="r" b="b"/>
            <a:pathLst>
              <a:path w="12112509" h="8707633">
                <a:moveTo>
                  <a:pt x="0" y="0"/>
                </a:moveTo>
                <a:lnTo>
                  <a:pt x="12112509" y="0"/>
                </a:lnTo>
                <a:lnTo>
                  <a:pt x="12112509" y="8707633"/>
                </a:lnTo>
                <a:lnTo>
                  <a:pt x="0" y="8707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01"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9" name="TextBox 9"/>
          <p:cNvSpPr txBox="1"/>
          <p:nvPr/>
        </p:nvSpPr>
        <p:spPr>
          <a:xfrm>
            <a:off x="523654" y="3472386"/>
            <a:ext cx="13396935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000" b="1" dirty="0">
                <a:solidFill>
                  <a:srgbClr val="FBF9F1"/>
                </a:solidFill>
                <a:latin typeface="Bahnschrift Condensed" panose="020B0502040204020203" pitchFamily="34" charset="0"/>
                <a:ea typeface="Poppins Bold"/>
                <a:cs typeface="Poppins Bold"/>
                <a:sym typeface="Poppins Bold"/>
              </a:rPr>
              <a:t>IMPLEMENTACIJA ALGORITMA "FOCUS STACKING" ZA PROŠIRENJE DUBINSKE OŠTRINE FOTOGRAFIJA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2000" y="9358093"/>
            <a:ext cx="7762921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hr-HR" sz="3200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Obrada slike i računalni vid</a:t>
            </a:r>
            <a:endParaRPr lang="en-US" sz="3200" dirty="0">
              <a:solidFill>
                <a:srgbClr val="E5E1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" name="Slika 18">
            <a:extLst>
              <a:ext uri="{FF2B5EF4-FFF2-40B4-BE49-F238E27FC236}">
                <a16:creationId xmlns:a16="http://schemas.microsoft.com/office/drawing/2014/main" id="{84A7D038-0C41-B926-0FCF-5DCD373F83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626647"/>
            <a:ext cx="990600" cy="1350022"/>
          </a:xfrm>
          <a:prstGeom prst="rect">
            <a:avLst/>
          </a:prstGeom>
        </p:spPr>
      </p:pic>
      <p:sp>
        <p:nvSpPr>
          <p:cNvPr id="20" name="TextBox 12">
            <a:extLst>
              <a:ext uri="{FF2B5EF4-FFF2-40B4-BE49-F238E27FC236}">
                <a16:creationId xmlns:a16="http://schemas.microsoft.com/office/drawing/2014/main" id="{E4D68887-9807-0359-3FA3-10CD6D562916}"/>
              </a:ext>
            </a:extLst>
          </p:cNvPr>
          <p:cNvSpPr txBox="1"/>
          <p:nvPr/>
        </p:nvSpPr>
        <p:spPr>
          <a:xfrm>
            <a:off x="14782801" y="9358093"/>
            <a:ext cx="3124200" cy="566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hr-HR" sz="3200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Tamara Kaselj</a:t>
            </a:r>
            <a:endParaRPr lang="en-US" sz="3200" dirty="0">
              <a:solidFill>
                <a:srgbClr val="E5E1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542318" flipV="1">
            <a:off x="12037037" y="-954371"/>
            <a:ext cx="7674102" cy="8229600"/>
          </a:xfrm>
          <a:custGeom>
            <a:avLst/>
            <a:gdLst/>
            <a:ahLst/>
            <a:cxnLst/>
            <a:rect l="l" t="t" r="r" b="b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3" name="Group 3"/>
          <p:cNvGrpSpPr/>
          <p:nvPr/>
        </p:nvGrpSpPr>
        <p:grpSpPr>
          <a:xfrm>
            <a:off x="725985" y="3328464"/>
            <a:ext cx="15148103" cy="6232551"/>
            <a:chOff x="0" y="0"/>
            <a:chExt cx="3989624" cy="16414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89624" cy="1641495"/>
            </a:xfrm>
            <a:custGeom>
              <a:avLst/>
              <a:gdLst/>
              <a:ahLst/>
              <a:cxnLst/>
              <a:rect l="l" t="t" r="r" b="b"/>
              <a:pathLst>
                <a:path w="3989624" h="1641495">
                  <a:moveTo>
                    <a:pt x="10222" y="0"/>
                  </a:moveTo>
                  <a:lnTo>
                    <a:pt x="3979402" y="0"/>
                  </a:lnTo>
                  <a:cubicBezTo>
                    <a:pt x="3982113" y="0"/>
                    <a:pt x="3984713" y="1077"/>
                    <a:pt x="3986630" y="2994"/>
                  </a:cubicBezTo>
                  <a:cubicBezTo>
                    <a:pt x="3988546" y="4911"/>
                    <a:pt x="3989624" y="7511"/>
                    <a:pt x="3989624" y="10222"/>
                  </a:cubicBezTo>
                  <a:lnTo>
                    <a:pt x="3989624" y="1631273"/>
                  </a:lnTo>
                  <a:cubicBezTo>
                    <a:pt x="3989624" y="1633984"/>
                    <a:pt x="3988546" y="1636584"/>
                    <a:pt x="3986630" y="1638501"/>
                  </a:cubicBezTo>
                  <a:cubicBezTo>
                    <a:pt x="3984713" y="1640418"/>
                    <a:pt x="3982113" y="1641495"/>
                    <a:pt x="3979402" y="1641495"/>
                  </a:cubicBezTo>
                  <a:lnTo>
                    <a:pt x="10222" y="1641495"/>
                  </a:lnTo>
                  <a:cubicBezTo>
                    <a:pt x="7511" y="1641495"/>
                    <a:pt x="4911" y="1640418"/>
                    <a:pt x="2994" y="1638501"/>
                  </a:cubicBezTo>
                  <a:cubicBezTo>
                    <a:pt x="1077" y="1636584"/>
                    <a:pt x="0" y="1633984"/>
                    <a:pt x="0" y="1631273"/>
                  </a:cubicBezTo>
                  <a:lnTo>
                    <a:pt x="0" y="10222"/>
                  </a:lnTo>
                  <a:cubicBezTo>
                    <a:pt x="0" y="7511"/>
                    <a:pt x="1077" y="4911"/>
                    <a:pt x="2994" y="2994"/>
                  </a:cubicBezTo>
                  <a:cubicBezTo>
                    <a:pt x="4911" y="1077"/>
                    <a:pt x="7511" y="0"/>
                    <a:pt x="10222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989624" cy="16795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2147874" y="7962921"/>
            <a:ext cx="5747719" cy="3384081"/>
          </a:xfrm>
          <a:custGeom>
            <a:avLst/>
            <a:gdLst/>
            <a:ahLst/>
            <a:cxnLst/>
            <a:rect l="l" t="t" r="r" b="b"/>
            <a:pathLst>
              <a:path w="5747719" h="3384081">
                <a:moveTo>
                  <a:pt x="0" y="0"/>
                </a:moveTo>
                <a:lnTo>
                  <a:pt x="5747719" y="0"/>
                </a:lnTo>
                <a:lnTo>
                  <a:pt x="5747719" y="3384080"/>
                </a:lnTo>
                <a:lnTo>
                  <a:pt x="0" y="338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302" b="-143185"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7" name="Freeform 7"/>
          <p:cNvSpPr/>
          <p:nvPr/>
        </p:nvSpPr>
        <p:spPr>
          <a:xfrm>
            <a:off x="14977667" y="1839074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1" y="0"/>
                </a:lnTo>
                <a:lnTo>
                  <a:pt x="896421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8" name="TextBox 8"/>
          <p:cNvSpPr txBox="1"/>
          <p:nvPr/>
        </p:nvSpPr>
        <p:spPr>
          <a:xfrm>
            <a:off x="725985" y="1184720"/>
            <a:ext cx="9713415" cy="991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hr-HR" sz="6999" b="1" dirty="0">
                <a:solidFill>
                  <a:srgbClr val="FFD944"/>
                </a:solidFill>
                <a:latin typeface="Poppins Bold"/>
                <a:ea typeface="Poppins Bold"/>
                <a:cs typeface="Poppins Bold"/>
                <a:sym typeface="Poppins Bold"/>
              </a:rPr>
              <a:t>Motivacija i zadatak</a:t>
            </a:r>
            <a:endParaRPr lang="en-US" sz="6999" b="1" dirty="0">
              <a:solidFill>
                <a:srgbClr val="FFD94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599845" y="4369310"/>
            <a:ext cx="9000000" cy="413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Ograničena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dubinska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oštrina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DoF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) u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makrofotografij</a:t>
            </a:r>
            <a:r>
              <a:rPr lang="hr-HR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hr-HR" sz="24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en-US" sz="2499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33057" y="4369310"/>
            <a:ext cx="1866788" cy="413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hr-HR" sz="28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PROBLEM</a:t>
            </a:r>
            <a:r>
              <a:rPr lang="hr-HR" sz="2499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: </a:t>
            </a:r>
            <a:endParaRPr lang="en-US" sz="2499" b="1" dirty="0">
              <a:solidFill>
                <a:srgbClr val="FFD944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666451" y="6150321"/>
            <a:ext cx="13017504" cy="861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Razviti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sustav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koji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spaja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više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fotografija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s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različitim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ravninama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fokusa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u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jednu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potpuno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oštru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sliku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33057" y="6168179"/>
            <a:ext cx="900000" cy="413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hr-HR" sz="28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CILJ:</a:t>
            </a:r>
            <a:endParaRPr lang="en-US" sz="2800" b="1" dirty="0">
              <a:solidFill>
                <a:srgbClr val="FFD944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319515" y="8164157"/>
            <a:ext cx="10484175" cy="413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Snimanje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iz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ruke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pomaci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kamere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)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artefakti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pri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spajanju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33057" y="8164157"/>
            <a:ext cx="1584000" cy="413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hr-HR" sz="28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IZAZOV</a:t>
            </a:r>
            <a:r>
              <a:rPr lang="hr-HR" sz="2499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:</a:t>
            </a:r>
            <a:endParaRPr lang="en-US" sz="2499" b="1" dirty="0">
              <a:solidFill>
                <a:srgbClr val="FFD944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4438636" y="4802688"/>
            <a:ext cx="8729104" cy="681625"/>
            <a:chOff x="0" y="0"/>
            <a:chExt cx="2299023" cy="179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99023" cy="179523"/>
            </a:xfrm>
            <a:custGeom>
              <a:avLst/>
              <a:gdLst/>
              <a:ahLst/>
              <a:cxnLst/>
              <a:rect l="l" t="t" r="r" b="b"/>
              <a:pathLst>
                <a:path w="2299023" h="179523">
                  <a:moveTo>
                    <a:pt x="56762" y="0"/>
                  </a:moveTo>
                  <a:lnTo>
                    <a:pt x="2242261" y="0"/>
                  </a:lnTo>
                  <a:cubicBezTo>
                    <a:pt x="2257315" y="0"/>
                    <a:pt x="2271753" y="5980"/>
                    <a:pt x="2282398" y="16625"/>
                  </a:cubicBezTo>
                  <a:cubicBezTo>
                    <a:pt x="2293043" y="27270"/>
                    <a:pt x="2299023" y="41708"/>
                    <a:pt x="2299023" y="56762"/>
                  </a:cubicBezTo>
                  <a:lnTo>
                    <a:pt x="2299023" y="122760"/>
                  </a:lnTo>
                  <a:cubicBezTo>
                    <a:pt x="2299023" y="137815"/>
                    <a:pt x="2293043" y="152252"/>
                    <a:pt x="2282398" y="162897"/>
                  </a:cubicBezTo>
                  <a:cubicBezTo>
                    <a:pt x="2271753" y="173542"/>
                    <a:pt x="2257315" y="179523"/>
                    <a:pt x="2242261" y="179523"/>
                  </a:cubicBezTo>
                  <a:lnTo>
                    <a:pt x="56762" y="179523"/>
                  </a:lnTo>
                  <a:cubicBezTo>
                    <a:pt x="41708" y="179523"/>
                    <a:pt x="27270" y="173542"/>
                    <a:pt x="16625" y="162897"/>
                  </a:cubicBezTo>
                  <a:cubicBezTo>
                    <a:pt x="5980" y="152252"/>
                    <a:pt x="0" y="137815"/>
                    <a:pt x="0" y="122760"/>
                  </a:cubicBezTo>
                  <a:lnTo>
                    <a:pt x="0" y="56762"/>
                  </a:lnTo>
                  <a:cubicBezTo>
                    <a:pt x="0" y="41708"/>
                    <a:pt x="5980" y="27270"/>
                    <a:pt x="16625" y="16625"/>
                  </a:cubicBezTo>
                  <a:cubicBezTo>
                    <a:pt x="27270" y="5980"/>
                    <a:pt x="41708" y="0"/>
                    <a:pt x="56762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99023" cy="217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574588" y="926782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6" name="Freeform 6"/>
          <p:cNvSpPr/>
          <p:nvPr/>
        </p:nvSpPr>
        <p:spPr>
          <a:xfrm>
            <a:off x="8574588" y="4215962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7" name="Freeform 7"/>
          <p:cNvSpPr/>
          <p:nvPr/>
        </p:nvSpPr>
        <p:spPr>
          <a:xfrm>
            <a:off x="8574588" y="7505560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8" name="Freeform 8"/>
          <p:cNvSpPr/>
          <p:nvPr/>
        </p:nvSpPr>
        <p:spPr>
          <a:xfrm>
            <a:off x="1028700" y="8361880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9" name="Freeform 9"/>
          <p:cNvSpPr/>
          <p:nvPr/>
        </p:nvSpPr>
        <p:spPr>
          <a:xfrm rot="10435729">
            <a:off x="-696093" y="-3780464"/>
            <a:ext cx="7951775" cy="8527373"/>
          </a:xfrm>
          <a:custGeom>
            <a:avLst/>
            <a:gdLst/>
            <a:ahLst/>
            <a:cxnLst/>
            <a:rect l="l" t="t" r="r" b="b"/>
            <a:pathLst>
              <a:path w="7951775" h="8527373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10" name="TextBox 10"/>
          <p:cNvSpPr txBox="1"/>
          <p:nvPr/>
        </p:nvSpPr>
        <p:spPr>
          <a:xfrm>
            <a:off x="9798106" y="869632"/>
            <a:ext cx="5199649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hr-HR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Ulazni skup slika (</a:t>
            </a:r>
            <a:r>
              <a:rPr lang="hr-HR" sz="2500" b="1" dirty="0" err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Image</a:t>
            </a:r>
            <a:r>
              <a:rPr lang="hr-HR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hr-HR" sz="2500" b="1" dirty="0" err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Stack</a:t>
            </a:r>
            <a:r>
              <a:rPr lang="hr-HR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)</a:t>
            </a:r>
            <a:endParaRPr lang="en-US" sz="2500" b="1" dirty="0">
              <a:solidFill>
                <a:srgbClr val="FFD944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6059170"/>
            <a:ext cx="5853180" cy="1696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hr-HR" sz="60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ARHITEKTURA SUSTAVA</a:t>
            </a:r>
            <a:endParaRPr lang="en-US" sz="6000" b="1" dirty="0">
              <a:solidFill>
                <a:srgbClr val="FBF9F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798106" y="4211125"/>
            <a:ext cx="6965894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hr-HR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Izračun mapa oštrine (</a:t>
            </a:r>
            <a:r>
              <a:rPr lang="hr-HR" sz="2500" b="1" dirty="0" err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Fouces</a:t>
            </a:r>
            <a:r>
              <a:rPr lang="hr-HR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hr-HR" sz="2500" b="1" dirty="0" err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Measure</a:t>
            </a:r>
            <a:r>
              <a:rPr lang="hr-HR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)</a:t>
            </a:r>
            <a:endParaRPr lang="en-US" sz="2500" b="1" dirty="0">
              <a:solidFill>
                <a:srgbClr val="FFD944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798106" y="7491412"/>
            <a:ext cx="5199649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hr-HR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Evaluacija kvalitete</a:t>
            </a:r>
            <a:endParaRPr lang="en-US" sz="2500" b="1" dirty="0">
              <a:solidFill>
                <a:srgbClr val="FFD944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pic>
        <p:nvPicPr>
          <p:cNvPr id="17" name="Slika 16">
            <a:extLst>
              <a:ext uri="{FF2B5EF4-FFF2-40B4-BE49-F238E27FC236}">
                <a16:creationId xmlns:a16="http://schemas.microsoft.com/office/drawing/2014/main" id="{75EB06BB-D042-E0E0-7B59-9895CF4D83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4548" y="2552820"/>
            <a:ext cx="457240" cy="457240"/>
          </a:xfrm>
          <a:prstGeom prst="rect">
            <a:avLst/>
          </a:prstGeom>
        </p:spPr>
      </p:pic>
      <p:sp>
        <p:nvSpPr>
          <p:cNvPr id="18" name="TextBox 10">
            <a:extLst>
              <a:ext uri="{FF2B5EF4-FFF2-40B4-BE49-F238E27FC236}">
                <a16:creationId xmlns:a16="http://schemas.microsoft.com/office/drawing/2014/main" id="{8A5DD029-B532-2C4E-F874-4A25F0F80FED}"/>
              </a:ext>
            </a:extLst>
          </p:cNvPr>
          <p:cNvSpPr txBox="1"/>
          <p:nvPr/>
        </p:nvSpPr>
        <p:spPr>
          <a:xfrm>
            <a:off x="9798106" y="2578980"/>
            <a:ext cx="5903867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hr-HR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Geometrijska registracija (poravnanje)</a:t>
            </a:r>
            <a:endParaRPr lang="en-US" sz="2500" b="1" dirty="0">
              <a:solidFill>
                <a:srgbClr val="FFD944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A59FA49D-F36C-C806-7C5A-EE0F4716C41C}"/>
              </a:ext>
            </a:extLst>
          </p:cNvPr>
          <p:cNvSpPr/>
          <p:nvPr/>
        </p:nvSpPr>
        <p:spPr>
          <a:xfrm>
            <a:off x="8576656" y="5860761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6AC3C815-AED3-B75B-BB8F-5ABA30194F64}"/>
              </a:ext>
            </a:extLst>
          </p:cNvPr>
          <p:cNvSpPr txBox="1"/>
          <p:nvPr/>
        </p:nvSpPr>
        <p:spPr>
          <a:xfrm>
            <a:off x="9798106" y="5856710"/>
            <a:ext cx="5199649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hr-HR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Fuzija (spajanje) u konačnu sliku</a:t>
            </a:r>
            <a:endParaRPr lang="en-US" sz="2500" b="1" dirty="0">
              <a:solidFill>
                <a:srgbClr val="FFD944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6844491" y="-3015084"/>
            <a:ext cx="9744477" cy="7040385"/>
          </a:xfrm>
          <a:custGeom>
            <a:avLst/>
            <a:gdLst/>
            <a:ahLst/>
            <a:cxnLst/>
            <a:rect l="l" t="t" r="r" b="b"/>
            <a:pathLst>
              <a:path w="9744477" h="7040385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3" name="Freeform 3"/>
          <p:cNvSpPr/>
          <p:nvPr/>
        </p:nvSpPr>
        <p:spPr>
          <a:xfrm rot="5400000">
            <a:off x="14011079" y="-2759658"/>
            <a:ext cx="9744477" cy="7040385"/>
          </a:xfrm>
          <a:custGeom>
            <a:avLst/>
            <a:gdLst/>
            <a:ahLst/>
            <a:cxnLst/>
            <a:rect l="l" t="t" r="r" b="b"/>
            <a:pathLst>
              <a:path w="9744477" h="7040385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6" name="Freeform 6"/>
          <p:cNvSpPr/>
          <p:nvPr/>
        </p:nvSpPr>
        <p:spPr>
          <a:xfrm>
            <a:off x="169712" y="9334765"/>
            <a:ext cx="717254" cy="722674"/>
          </a:xfrm>
          <a:custGeom>
            <a:avLst/>
            <a:gdLst/>
            <a:ahLst/>
            <a:cxnLst/>
            <a:rect l="l" t="t" r="r" b="b"/>
            <a:pathLst>
              <a:path w="717254" h="722674">
                <a:moveTo>
                  <a:pt x="0" y="0"/>
                </a:moveTo>
                <a:lnTo>
                  <a:pt x="717254" y="0"/>
                </a:lnTo>
                <a:lnTo>
                  <a:pt x="717254" y="722674"/>
                </a:lnTo>
                <a:lnTo>
                  <a:pt x="0" y="722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r-HR" dirty="0"/>
          </a:p>
        </p:txBody>
      </p:sp>
      <p:sp>
        <p:nvSpPr>
          <p:cNvPr id="9" name="Freeform 9"/>
          <p:cNvSpPr/>
          <p:nvPr/>
        </p:nvSpPr>
        <p:spPr>
          <a:xfrm>
            <a:off x="17371294" y="9334765"/>
            <a:ext cx="717254" cy="722674"/>
          </a:xfrm>
          <a:custGeom>
            <a:avLst/>
            <a:gdLst/>
            <a:ahLst/>
            <a:cxnLst/>
            <a:rect l="l" t="t" r="r" b="b"/>
            <a:pathLst>
              <a:path w="717254" h="722674">
                <a:moveTo>
                  <a:pt x="0" y="0"/>
                </a:moveTo>
                <a:lnTo>
                  <a:pt x="717254" y="0"/>
                </a:lnTo>
                <a:lnTo>
                  <a:pt x="717254" y="722674"/>
                </a:lnTo>
                <a:lnTo>
                  <a:pt x="0" y="722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11" name="TextBox 11"/>
          <p:cNvSpPr txBox="1"/>
          <p:nvPr/>
        </p:nvSpPr>
        <p:spPr>
          <a:xfrm>
            <a:off x="1371600" y="9262113"/>
            <a:ext cx="4733925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hr-HR" sz="2499" b="1" dirty="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Ulazna slika (prednji fokus)</a:t>
            </a:r>
            <a:endParaRPr lang="en-US" sz="2499" b="1" dirty="0">
              <a:solidFill>
                <a:srgbClr val="FBF9F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663939" y="952500"/>
            <a:ext cx="13001944" cy="850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hr-HR" sz="60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PREDOBRADA I PORAVNANJE </a:t>
            </a:r>
            <a:endParaRPr lang="en-US" sz="6000" b="1" dirty="0">
              <a:solidFill>
                <a:srgbClr val="FBF9F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944600" y="9262114"/>
            <a:ext cx="4733593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hr-HR" sz="2499" b="1" dirty="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Poravnata slika</a:t>
            </a:r>
            <a:endParaRPr lang="en-US" sz="2499" b="1" dirty="0">
              <a:solidFill>
                <a:srgbClr val="FBF9F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777203" y="3871364"/>
            <a:ext cx="4733593" cy="4090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32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Mikropomaci</a:t>
            </a:r>
            <a:r>
              <a:rPr lang="hr-HR" sz="32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i promjena perspektive</a:t>
            </a:r>
          </a:p>
          <a:p>
            <a:pPr marL="342900" indent="-3429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hr-HR" sz="32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indent="-4572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„</a:t>
            </a:r>
            <a:r>
              <a:rPr lang="hr-HR" sz="32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Ghosting</a:t>
            </a:r>
            <a:r>
              <a:rPr lang="hr-HR" sz="32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” artefakt (dupli rubovi)</a:t>
            </a:r>
          </a:p>
          <a:p>
            <a:pPr marL="342900" indent="-3429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hr-HR" sz="32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indent="-4572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ORB</a:t>
            </a:r>
          </a:p>
          <a:p>
            <a:pPr marL="342900" indent="-3429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hr-HR" sz="32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indent="-4572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RANSAC algoritam</a:t>
            </a:r>
          </a:p>
          <a:p>
            <a:pPr marL="457200" indent="-4572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hr-HR" sz="32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indent="-4572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Crni rubovi</a:t>
            </a:r>
          </a:p>
        </p:txBody>
      </p:sp>
      <p:pic>
        <p:nvPicPr>
          <p:cNvPr id="19" name="Slika 18">
            <a:extLst>
              <a:ext uri="{FF2B5EF4-FFF2-40B4-BE49-F238E27FC236}">
                <a16:creationId xmlns:a16="http://schemas.microsoft.com/office/drawing/2014/main" id="{6B1DBEBD-2423-CCB9-ADDC-BDF4536D83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740" y="2380755"/>
            <a:ext cx="4536000" cy="6804000"/>
          </a:xfrm>
          <a:prstGeom prst="rect">
            <a:avLst/>
          </a:prstGeom>
        </p:spPr>
      </p:pic>
      <p:pic>
        <p:nvPicPr>
          <p:cNvPr id="21" name="Slika 20">
            <a:extLst>
              <a:ext uri="{FF2B5EF4-FFF2-40B4-BE49-F238E27FC236}">
                <a16:creationId xmlns:a16="http://schemas.microsoft.com/office/drawing/2014/main" id="{18DA8356-CE2E-CBF8-2078-F8EFC32248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7" t="1054" r="1374" b="844"/>
          <a:stretch>
            <a:fillRect/>
          </a:stretch>
        </p:blipFill>
        <p:spPr>
          <a:xfrm>
            <a:off x="12579493" y="2380755"/>
            <a:ext cx="4544824" cy="680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983476" flipV="1">
            <a:off x="-2892749" y="-954371"/>
            <a:ext cx="7674102" cy="8229600"/>
          </a:xfrm>
          <a:custGeom>
            <a:avLst/>
            <a:gdLst/>
            <a:ahLst/>
            <a:cxnLst/>
            <a:rect l="l" t="t" r="r" b="b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3" name="Freeform 3"/>
          <p:cNvSpPr/>
          <p:nvPr/>
        </p:nvSpPr>
        <p:spPr>
          <a:xfrm>
            <a:off x="15372182" y="7222393"/>
            <a:ext cx="6195600" cy="3384081"/>
          </a:xfrm>
          <a:custGeom>
            <a:avLst/>
            <a:gdLst/>
            <a:ahLst/>
            <a:cxnLst/>
            <a:rect l="l" t="t" r="r" b="b"/>
            <a:pathLst>
              <a:path w="6195600" h="3384081">
                <a:moveTo>
                  <a:pt x="0" y="0"/>
                </a:moveTo>
                <a:lnTo>
                  <a:pt x="6195601" y="0"/>
                </a:lnTo>
                <a:lnTo>
                  <a:pt x="6195601" y="3384081"/>
                </a:lnTo>
                <a:lnTo>
                  <a:pt x="0" y="3384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50" b="-143185"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6" name="Group 6"/>
          <p:cNvGrpSpPr/>
          <p:nvPr/>
        </p:nvGrpSpPr>
        <p:grpSpPr>
          <a:xfrm>
            <a:off x="532387" y="1938059"/>
            <a:ext cx="6188862" cy="3725563"/>
            <a:chOff x="0" y="0"/>
            <a:chExt cx="1629988" cy="7798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9988" cy="779865"/>
            </a:xfrm>
            <a:custGeom>
              <a:avLst/>
              <a:gdLst/>
              <a:ahLst/>
              <a:cxnLst/>
              <a:rect l="l" t="t" r="r" b="b"/>
              <a:pathLst>
                <a:path w="1629988" h="779865">
                  <a:moveTo>
                    <a:pt x="25019" y="0"/>
                  </a:moveTo>
                  <a:lnTo>
                    <a:pt x="1604970" y="0"/>
                  </a:lnTo>
                  <a:cubicBezTo>
                    <a:pt x="1611605" y="0"/>
                    <a:pt x="1617969" y="2636"/>
                    <a:pt x="1622661" y="7328"/>
                  </a:cubicBezTo>
                  <a:cubicBezTo>
                    <a:pt x="1627353" y="12020"/>
                    <a:pt x="1629988" y="18383"/>
                    <a:pt x="1629988" y="25019"/>
                  </a:cubicBezTo>
                  <a:lnTo>
                    <a:pt x="1629988" y="754846"/>
                  </a:lnTo>
                  <a:cubicBezTo>
                    <a:pt x="1629988" y="761482"/>
                    <a:pt x="1627353" y="767845"/>
                    <a:pt x="1622661" y="772537"/>
                  </a:cubicBezTo>
                  <a:cubicBezTo>
                    <a:pt x="1617969" y="777229"/>
                    <a:pt x="1611605" y="779865"/>
                    <a:pt x="1604970" y="779865"/>
                  </a:cubicBezTo>
                  <a:lnTo>
                    <a:pt x="25019" y="779865"/>
                  </a:lnTo>
                  <a:cubicBezTo>
                    <a:pt x="18383" y="779865"/>
                    <a:pt x="12020" y="777229"/>
                    <a:pt x="7328" y="772537"/>
                  </a:cubicBezTo>
                  <a:cubicBezTo>
                    <a:pt x="2636" y="767845"/>
                    <a:pt x="0" y="761482"/>
                    <a:pt x="0" y="754846"/>
                  </a:cubicBezTo>
                  <a:lnTo>
                    <a:pt x="0" y="25019"/>
                  </a:lnTo>
                  <a:cubicBezTo>
                    <a:pt x="0" y="18383"/>
                    <a:pt x="2636" y="12020"/>
                    <a:pt x="7328" y="7328"/>
                  </a:cubicBezTo>
                  <a:cubicBezTo>
                    <a:pt x="12020" y="2636"/>
                    <a:pt x="18383" y="0"/>
                    <a:pt x="25019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29988" cy="817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426" y="6453541"/>
            <a:ext cx="6188862" cy="3726000"/>
            <a:chOff x="0" y="0"/>
            <a:chExt cx="1629988" cy="7798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9988" cy="779865"/>
            </a:xfrm>
            <a:custGeom>
              <a:avLst/>
              <a:gdLst/>
              <a:ahLst/>
              <a:cxnLst/>
              <a:rect l="l" t="t" r="r" b="b"/>
              <a:pathLst>
                <a:path w="1629988" h="779865">
                  <a:moveTo>
                    <a:pt x="25019" y="0"/>
                  </a:moveTo>
                  <a:lnTo>
                    <a:pt x="1604970" y="0"/>
                  </a:lnTo>
                  <a:cubicBezTo>
                    <a:pt x="1611605" y="0"/>
                    <a:pt x="1617969" y="2636"/>
                    <a:pt x="1622661" y="7328"/>
                  </a:cubicBezTo>
                  <a:cubicBezTo>
                    <a:pt x="1627353" y="12020"/>
                    <a:pt x="1629988" y="18383"/>
                    <a:pt x="1629988" y="25019"/>
                  </a:cubicBezTo>
                  <a:lnTo>
                    <a:pt x="1629988" y="754846"/>
                  </a:lnTo>
                  <a:cubicBezTo>
                    <a:pt x="1629988" y="761482"/>
                    <a:pt x="1627353" y="767845"/>
                    <a:pt x="1622661" y="772537"/>
                  </a:cubicBezTo>
                  <a:cubicBezTo>
                    <a:pt x="1617969" y="777229"/>
                    <a:pt x="1611605" y="779865"/>
                    <a:pt x="1604970" y="779865"/>
                  </a:cubicBezTo>
                  <a:lnTo>
                    <a:pt x="25019" y="779865"/>
                  </a:lnTo>
                  <a:cubicBezTo>
                    <a:pt x="18383" y="779865"/>
                    <a:pt x="12020" y="777229"/>
                    <a:pt x="7328" y="772537"/>
                  </a:cubicBezTo>
                  <a:cubicBezTo>
                    <a:pt x="2636" y="767845"/>
                    <a:pt x="0" y="761482"/>
                    <a:pt x="0" y="754846"/>
                  </a:cubicBezTo>
                  <a:lnTo>
                    <a:pt x="0" y="25019"/>
                  </a:lnTo>
                  <a:cubicBezTo>
                    <a:pt x="0" y="18383"/>
                    <a:pt x="2636" y="12020"/>
                    <a:pt x="7328" y="7328"/>
                  </a:cubicBezTo>
                  <a:cubicBezTo>
                    <a:pt x="12020" y="2636"/>
                    <a:pt x="18383" y="0"/>
                    <a:pt x="25019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629988" cy="817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566751" y="1980453"/>
            <a:ext cx="6188862" cy="3639600"/>
            <a:chOff x="0" y="0"/>
            <a:chExt cx="1629988" cy="7798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29988" cy="779865"/>
            </a:xfrm>
            <a:custGeom>
              <a:avLst/>
              <a:gdLst/>
              <a:ahLst/>
              <a:cxnLst/>
              <a:rect l="l" t="t" r="r" b="b"/>
              <a:pathLst>
                <a:path w="1629988" h="779865">
                  <a:moveTo>
                    <a:pt x="25019" y="0"/>
                  </a:moveTo>
                  <a:lnTo>
                    <a:pt x="1604970" y="0"/>
                  </a:lnTo>
                  <a:cubicBezTo>
                    <a:pt x="1611605" y="0"/>
                    <a:pt x="1617969" y="2636"/>
                    <a:pt x="1622661" y="7328"/>
                  </a:cubicBezTo>
                  <a:cubicBezTo>
                    <a:pt x="1627353" y="12020"/>
                    <a:pt x="1629988" y="18383"/>
                    <a:pt x="1629988" y="25019"/>
                  </a:cubicBezTo>
                  <a:lnTo>
                    <a:pt x="1629988" y="754846"/>
                  </a:lnTo>
                  <a:cubicBezTo>
                    <a:pt x="1629988" y="761482"/>
                    <a:pt x="1627353" y="767845"/>
                    <a:pt x="1622661" y="772537"/>
                  </a:cubicBezTo>
                  <a:cubicBezTo>
                    <a:pt x="1617969" y="777229"/>
                    <a:pt x="1611605" y="779865"/>
                    <a:pt x="1604970" y="779865"/>
                  </a:cubicBezTo>
                  <a:lnTo>
                    <a:pt x="25019" y="779865"/>
                  </a:lnTo>
                  <a:cubicBezTo>
                    <a:pt x="18383" y="779865"/>
                    <a:pt x="12020" y="777229"/>
                    <a:pt x="7328" y="772537"/>
                  </a:cubicBezTo>
                  <a:cubicBezTo>
                    <a:pt x="2636" y="767845"/>
                    <a:pt x="0" y="761482"/>
                    <a:pt x="0" y="754846"/>
                  </a:cubicBezTo>
                  <a:lnTo>
                    <a:pt x="0" y="25019"/>
                  </a:lnTo>
                  <a:cubicBezTo>
                    <a:pt x="0" y="18383"/>
                    <a:pt x="2636" y="12020"/>
                    <a:pt x="7328" y="7328"/>
                  </a:cubicBezTo>
                  <a:cubicBezTo>
                    <a:pt x="12020" y="2636"/>
                    <a:pt x="18383" y="0"/>
                    <a:pt x="25019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629988" cy="817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548485" y="6380948"/>
            <a:ext cx="6188862" cy="3639600"/>
            <a:chOff x="0" y="0"/>
            <a:chExt cx="1629988" cy="77986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29988" cy="779865"/>
            </a:xfrm>
            <a:custGeom>
              <a:avLst/>
              <a:gdLst/>
              <a:ahLst/>
              <a:cxnLst/>
              <a:rect l="l" t="t" r="r" b="b"/>
              <a:pathLst>
                <a:path w="1629988" h="779865">
                  <a:moveTo>
                    <a:pt x="25019" y="0"/>
                  </a:moveTo>
                  <a:lnTo>
                    <a:pt x="1604970" y="0"/>
                  </a:lnTo>
                  <a:cubicBezTo>
                    <a:pt x="1611605" y="0"/>
                    <a:pt x="1617969" y="2636"/>
                    <a:pt x="1622661" y="7328"/>
                  </a:cubicBezTo>
                  <a:cubicBezTo>
                    <a:pt x="1627353" y="12020"/>
                    <a:pt x="1629988" y="18383"/>
                    <a:pt x="1629988" y="25019"/>
                  </a:cubicBezTo>
                  <a:lnTo>
                    <a:pt x="1629988" y="754846"/>
                  </a:lnTo>
                  <a:cubicBezTo>
                    <a:pt x="1629988" y="761482"/>
                    <a:pt x="1627353" y="767845"/>
                    <a:pt x="1622661" y="772537"/>
                  </a:cubicBezTo>
                  <a:cubicBezTo>
                    <a:pt x="1617969" y="777229"/>
                    <a:pt x="1611605" y="779865"/>
                    <a:pt x="1604970" y="779865"/>
                  </a:cubicBezTo>
                  <a:lnTo>
                    <a:pt x="25019" y="779865"/>
                  </a:lnTo>
                  <a:cubicBezTo>
                    <a:pt x="18383" y="779865"/>
                    <a:pt x="12020" y="777229"/>
                    <a:pt x="7328" y="772537"/>
                  </a:cubicBezTo>
                  <a:cubicBezTo>
                    <a:pt x="2636" y="767845"/>
                    <a:pt x="0" y="761482"/>
                    <a:pt x="0" y="754846"/>
                  </a:cubicBezTo>
                  <a:lnTo>
                    <a:pt x="0" y="25019"/>
                  </a:lnTo>
                  <a:cubicBezTo>
                    <a:pt x="0" y="18383"/>
                    <a:pt x="2636" y="12020"/>
                    <a:pt x="7328" y="7328"/>
                  </a:cubicBezTo>
                  <a:cubicBezTo>
                    <a:pt x="12020" y="2636"/>
                    <a:pt x="18383" y="0"/>
                    <a:pt x="25019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629988" cy="817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24347" y="1446475"/>
            <a:ext cx="5445149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hr-HR" sz="2500" b="1" dirty="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Ulazna slika (prednji fokus)</a:t>
            </a:r>
            <a:endParaRPr lang="en-US" sz="2500" b="1" dirty="0">
              <a:solidFill>
                <a:srgbClr val="FBF9F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538033" y="472375"/>
            <a:ext cx="13211934" cy="708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hr-HR" sz="50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KLASIČNE METODE DETEKCIJE OŠTRINE</a:t>
            </a:r>
            <a:endParaRPr lang="en-US" sz="5000" b="1" dirty="0">
              <a:solidFill>
                <a:srgbClr val="FBF9F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32387" y="5930725"/>
            <a:ext cx="5445149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hr-HR" sz="2500" b="1" dirty="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Ulazna slika (stražnji fokus)</a:t>
            </a:r>
            <a:endParaRPr lang="en-US" sz="2500" b="1" dirty="0">
              <a:solidFill>
                <a:srgbClr val="FBF9F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811000" y="1536267"/>
            <a:ext cx="5445149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hr-HR" sz="2500" b="1" dirty="0" err="1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Laplacianova</a:t>
            </a:r>
            <a:r>
              <a:rPr lang="hr-HR" sz="2500" b="1" dirty="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 mapa oštrine</a:t>
            </a:r>
            <a:endParaRPr lang="en-US" sz="2500" b="1" dirty="0">
              <a:solidFill>
                <a:srgbClr val="FBF9F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pic>
        <p:nvPicPr>
          <p:cNvPr id="29" name="Slika 28">
            <a:extLst>
              <a:ext uri="{FF2B5EF4-FFF2-40B4-BE49-F238E27FC236}">
                <a16:creationId xmlns:a16="http://schemas.microsoft.com/office/drawing/2014/main" id="{825ADE01-C35E-F62C-9BCB-30902AAA7D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389" y="1980453"/>
            <a:ext cx="6084857" cy="36384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" name="TextBox 26"/>
          <p:cNvSpPr txBox="1"/>
          <p:nvPr/>
        </p:nvSpPr>
        <p:spPr>
          <a:xfrm>
            <a:off x="11646150" y="5922279"/>
            <a:ext cx="5445149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hr-HR" sz="2500" b="1" dirty="0" err="1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Tenengradova</a:t>
            </a:r>
            <a:r>
              <a:rPr lang="hr-HR" sz="2500" b="1" dirty="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 mapa oštrine</a:t>
            </a:r>
            <a:endParaRPr lang="en-US" sz="2500" b="1" dirty="0">
              <a:solidFill>
                <a:srgbClr val="FBF9F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27" name="TekstniOkvir 26">
            <a:extLst>
              <a:ext uri="{FF2B5EF4-FFF2-40B4-BE49-F238E27FC236}">
                <a16:creationId xmlns:a16="http://schemas.microsoft.com/office/drawing/2014/main" id="{EB494160-CD9B-DEDE-154D-104A4DF3C76D}"/>
              </a:ext>
            </a:extLst>
          </p:cNvPr>
          <p:cNvSpPr txBox="1"/>
          <p:nvPr/>
        </p:nvSpPr>
        <p:spPr>
          <a:xfrm>
            <a:off x="6796209" y="4251129"/>
            <a:ext cx="482536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2800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Laplacianov</a:t>
            </a:r>
            <a:r>
              <a:rPr lang="hr-HR" sz="2800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operator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Konvolucijska</a:t>
            </a:r>
            <a:r>
              <a:rPr lang="hr-HR" sz="2800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maska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Detekcija rubova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Gaussovo</a:t>
            </a:r>
            <a:r>
              <a:rPr lang="hr-HR" sz="2800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zamućivanje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hr-HR" sz="2800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r>
              <a:rPr lang="hr-HR" sz="2800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Tenengradov</a:t>
            </a:r>
            <a:r>
              <a:rPr lang="hr-HR" sz="2800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gradijent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Sobelovi</a:t>
            </a:r>
            <a:r>
              <a:rPr lang="hr-HR" sz="2800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operatori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Magnituda gradijenta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Veća robusnost</a:t>
            </a:r>
          </a:p>
        </p:txBody>
      </p:sp>
      <p:pic>
        <p:nvPicPr>
          <p:cNvPr id="31" name="Slika 30">
            <a:extLst>
              <a:ext uri="{FF2B5EF4-FFF2-40B4-BE49-F238E27FC236}">
                <a16:creationId xmlns:a16="http://schemas.microsoft.com/office/drawing/2014/main" id="{C2F1103F-2520-CA58-3174-56BD4D64F4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49" y="6515833"/>
            <a:ext cx="6095635" cy="3639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3" name="Slika 32">
            <a:extLst>
              <a:ext uri="{FF2B5EF4-FFF2-40B4-BE49-F238E27FC236}">
                <a16:creationId xmlns:a16="http://schemas.microsoft.com/office/drawing/2014/main" id="{91CE2CCA-4B2D-BD91-29EF-99D11636E1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0013" y="1991137"/>
            <a:ext cx="6195600" cy="3639600"/>
          </a:xfrm>
          <a:prstGeom prst="rect">
            <a:avLst/>
          </a:prstGeom>
        </p:spPr>
      </p:pic>
      <p:pic>
        <p:nvPicPr>
          <p:cNvPr id="35" name="Slika 34">
            <a:extLst>
              <a:ext uri="{FF2B5EF4-FFF2-40B4-BE49-F238E27FC236}">
                <a16:creationId xmlns:a16="http://schemas.microsoft.com/office/drawing/2014/main" id="{E70DAC8E-334A-AD19-2630-40FDBE7B23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8485" y="6380948"/>
            <a:ext cx="6230013" cy="36413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0817513" y="-3911527"/>
            <a:ext cx="7470487" cy="5397427"/>
          </a:xfrm>
          <a:custGeom>
            <a:avLst/>
            <a:gdLst/>
            <a:ahLst/>
            <a:cxnLst/>
            <a:rect l="l" t="t" r="r" b="b"/>
            <a:pathLst>
              <a:path w="7470487" h="5397427">
                <a:moveTo>
                  <a:pt x="0" y="0"/>
                </a:moveTo>
                <a:lnTo>
                  <a:pt x="7470487" y="0"/>
                </a:lnTo>
                <a:lnTo>
                  <a:pt x="7470487" y="5397427"/>
                </a:lnTo>
                <a:lnTo>
                  <a:pt x="0" y="53974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3" name="Freeform 3"/>
          <p:cNvSpPr/>
          <p:nvPr/>
        </p:nvSpPr>
        <p:spPr>
          <a:xfrm rot="-10800000">
            <a:off x="-8131585" y="653219"/>
            <a:ext cx="13745171" cy="10034901"/>
          </a:xfrm>
          <a:custGeom>
            <a:avLst/>
            <a:gdLst/>
            <a:ahLst/>
            <a:cxnLst/>
            <a:rect l="l" t="t" r="r" b="b"/>
            <a:pathLst>
              <a:path w="13745171" h="10034901">
                <a:moveTo>
                  <a:pt x="0" y="0"/>
                </a:moveTo>
                <a:lnTo>
                  <a:pt x="13745171" y="0"/>
                </a:lnTo>
                <a:lnTo>
                  <a:pt x="13745171" y="10034901"/>
                </a:lnTo>
                <a:lnTo>
                  <a:pt x="0" y="10034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3" r="-523"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5" name="TextBox 5"/>
          <p:cNvSpPr txBox="1"/>
          <p:nvPr/>
        </p:nvSpPr>
        <p:spPr>
          <a:xfrm>
            <a:off x="304800" y="635668"/>
            <a:ext cx="16625116" cy="850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hr-HR" sz="60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VIŠEREZOLUCIJSKA PIRAMIDALNA FUZIJA</a:t>
            </a:r>
            <a:endParaRPr lang="en-US" sz="6000" b="1" dirty="0">
              <a:solidFill>
                <a:srgbClr val="FBF9F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8609370" y="2057334"/>
            <a:ext cx="8912215" cy="1009150"/>
            <a:chOff x="0" y="-29816"/>
            <a:chExt cx="2052358" cy="2657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68965" cy="227684"/>
            </a:xfrm>
            <a:custGeom>
              <a:avLst/>
              <a:gdLst/>
              <a:ahLst/>
              <a:cxnLst/>
              <a:rect l="l" t="t" r="r" b="b"/>
              <a:pathLst>
                <a:path w="1968965" h="227684">
                  <a:moveTo>
                    <a:pt x="62135" y="0"/>
                  </a:moveTo>
                  <a:lnTo>
                    <a:pt x="1906830" y="0"/>
                  </a:lnTo>
                  <a:cubicBezTo>
                    <a:pt x="1941146" y="0"/>
                    <a:pt x="1968965" y="27819"/>
                    <a:pt x="1968965" y="62135"/>
                  </a:cubicBezTo>
                  <a:lnTo>
                    <a:pt x="1968965" y="165549"/>
                  </a:lnTo>
                  <a:cubicBezTo>
                    <a:pt x="1968965" y="199866"/>
                    <a:pt x="1941146" y="227684"/>
                    <a:pt x="1906830" y="227684"/>
                  </a:cubicBezTo>
                  <a:lnTo>
                    <a:pt x="62135" y="227684"/>
                  </a:lnTo>
                  <a:cubicBezTo>
                    <a:pt x="27819" y="227684"/>
                    <a:pt x="0" y="199866"/>
                    <a:pt x="0" y="165549"/>
                  </a:cubicBezTo>
                  <a:lnTo>
                    <a:pt x="0" y="62135"/>
                  </a:lnTo>
                  <a:cubicBezTo>
                    <a:pt x="0" y="27819"/>
                    <a:pt x="27819" y="0"/>
                    <a:pt x="6213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393" y="-29816"/>
              <a:ext cx="1968965" cy="265784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2799"/>
                </a:lnSpc>
              </a:pPr>
              <a:r>
                <a:rPr lang="hr-HR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Dekompozicija slika na različite frekvencijske pojaseve.</a:t>
              </a:r>
              <a:endPara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609370" y="3871283"/>
            <a:ext cx="8550087" cy="864489"/>
            <a:chOff x="0" y="0"/>
            <a:chExt cx="1968965" cy="2276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68965" cy="227684"/>
            </a:xfrm>
            <a:custGeom>
              <a:avLst/>
              <a:gdLst/>
              <a:ahLst/>
              <a:cxnLst/>
              <a:rect l="l" t="t" r="r" b="b"/>
              <a:pathLst>
                <a:path w="1968965" h="227684">
                  <a:moveTo>
                    <a:pt x="62135" y="0"/>
                  </a:moveTo>
                  <a:lnTo>
                    <a:pt x="1906830" y="0"/>
                  </a:lnTo>
                  <a:cubicBezTo>
                    <a:pt x="1941146" y="0"/>
                    <a:pt x="1968965" y="27819"/>
                    <a:pt x="1968965" y="62135"/>
                  </a:cubicBezTo>
                  <a:lnTo>
                    <a:pt x="1968965" y="165549"/>
                  </a:lnTo>
                  <a:cubicBezTo>
                    <a:pt x="1968965" y="199866"/>
                    <a:pt x="1941146" y="227684"/>
                    <a:pt x="1906830" y="227684"/>
                  </a:cubicBezTo>
                  <a:lnTo>
                    <a:pt x="62135" y="227684"/>
                  </a:lnTo>
                  <a:cubicBezTo>
                    <a:pt x="27819" y="227684"/>
                    <a:pt x="0" y="199866"/>
                    <a:pt x="0" y="165549"/>
                  </a:cubicBezTo>
                  <a:lnTo>
                    <a:pt x="0" y="62135"/>
                  </a:lnTo>
                  <a:cubicBezTo>
                    <a:pt x="0" y="27819"/>
                    <a:pt x="27819" y="0"/>
                    <a:pt x="6213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968965" cy="265784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2799"/>
                </a:lnSpc>
              </a:pPr>
              <a:endParaRPr lang="en-US" sz="19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41445" y="6682477"/>
            <a:ext cx="8725227" cy="1009150"/>
            <a:chOff x="0" y="-30763"/>
            <a:chExt cx="1977321" cy="26578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68965" cy="227684"/>
            </a:xfrm>
            <a:custGeom>
              <a:avLst/>
              <a:gdLst/>
              <a:ahLst/>
              <a:cxnLst/>
              <a:rect l="l" t="t" r="r" b="b"/>
              <a:pathLst>
                <a:path w="1968965" h="227684">
                  <a:moveTo>
                    <a:pt x="62135" y="0"/>
                  </a:moveTo>
                  <a:lnTo>
                    <a:pt x="1906830" y="0"/>
                  </a:lnTo>
                  <a:cubicBezTo>
                    <a:pt x="1941146" y="0"/>
                    <a:pt x="1968965" y="27819"/>
                    <a:pt x="1968965" y="62135"/>
                  </a:cubicBezTo>
                  <a:lnTo>
                    <a:pt x="1968965" y="165549"/>
                  </a:lnTo>
                  <a:cubicBezTo>
                    <a:pt x="1968965" y="199866"/>
                    <a:pt x="1941146" y="227684"/>
                    <a:pt x="1906830" y="227684"/>
                  </a:cubicBezTo>
                  <a:lnTo>
                    <a:pt x="62135" y="227684"/>
                  </a:lnTo>
                  <a:cubicBezTo>
                    <a:pt x="27819" y="227684"/>
                    <a:pt x="0" y="199866"/>
                    <a:pt x="0" y="165549"/>
                  </a:cubicBezTo>
                  <a:lnTo>
                    <a:pt x="0" y="62135"/>
                  </a:lnTo>
                  <a:cubicBezTo>
                    <a:pt x="0" y="27819"/>
                    <a:pt x="27819" y="0"/>
                    <a:pt x="6213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56" y="-30763"/>
              <a:ext cx="1968965" cy="265784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2799"/>
                </a:lnSpc>
              </a:pPr>
              <a:r>
                <a:rPr lang="pl-PL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Zbrajanjem razina odozdo prema gore dobiva se finalna slika.</a:t>
              </a:r>
              <a:endPara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41445" y="8285599"/>
            <a:ext cx="9188714" cy="1009150"/>
            <a:chOff x="-8356" y="-19050"/>
            <a:chExt cx="2082357" cy="265784"/>
          </a:xfrm>
        </p:grpSpPr>
        <p:sp>
          <p:nvSpPr>
            <p:cNvPr id="17" name="Freeform 17"/>
            <p:cNvSpPr/>
            <p:nvPr/>
          </p:nvSpPr>
          <p:spPr>
            <a:xfrm>
              <a:off x="-8356" y="0"/>
              <a:ext cx="1968965" cy="227684"/>
            </a:xfrm>
            <a:custGeom>
              <a:avLst/>
              <a:gdLst/>
              <a:ahLst/>
              <a:cxnLst/>
              <a:rect l="l" t="t" r="r" b="b"/>
              <a:pathLst>
                <a:path w="1968965" h="227684">
                  <a:moveTo>
                    <a:pt x="62135" y="0"/>
                  </a:moveTo>
                  <a:lnTo>
                    <a:pt x="1906830" y="0"/>
                  </a:lnTo>
                  <a:cubicBezTo>
                    <a:pt x="1941146" y="0"/>
                    <a:pt x="1968965" y="27819"/>
                    <a:pt x="1968965" y="62135"/>
                  </a:cubicBezTo>
                  <a:lnTo>
                    <a:pt x="1968965" y="165549"/>
                  </a:lnTo>
                  <a:cubicBezTo>
                    <a:pt x="1968965" y="199866"/>
                    <a:pt x="1941146" y="227684"/>
                    <a:pt x="1906830" y="227684"/>
                  </a:cubicBezTo>
                  <a:lnTo>
                    <a:pt x="62135" y="227684"/>
                  </a:lnTo>
                  <a:cubicBezTo>
                    <a:pt x="27819" y="227684"/>
                    <a:pt x="0" y="199866"/>
                    <a:pt x="0" y="165549"/>
                  </a:cubicBezTo>
                  <a:lnTo>
                    <a:pt x="0" y="62135"/>
                  </a:lnTo>
                  <a:cubicBezTo>
                    <a:pt x="0" y="27819"/>
                    <a:pt x="27819" y="0"/>
                    <a:pt x="6213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r-HR" dirty="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036" y="-19050"/>
              <a:ext cx="1968965" cy="265784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2799"/>
                </a:lnSpc>
              </a:pPr>
              <a:r>
                <a:rPr lang="hr-HR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E</a:t>
              </a:r>
              <a:r>
                <a:rPr lang="en-US" sz="2400" dirty="0" err="1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liminira</a:t>
              </a:r>
              <a:r>
                <a:rPr lang="en-US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2400" dirty="0" err="1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vidljive</a:t>
              </a:r>
              <a:r>
                <a:rPr lang="en-US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 "</a:t>
              </a:r>
              <a:r>
                <a:rPr lang="en-US" sz="2400" dirty="0" err="1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šavove</a:t>
              </a:r>
              <a:r>
                <a:rPr lang="en-US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" </a:t>
              </a:r>
              <a:r>
                <a:rPr lang="en-US" sz="2400" dirty="0" err="1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i</a:t>
              </a:r>
              <a:r>
                <a:rPr lang="en-US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2400" dirty="0" err="1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stvara</a:t>
              </a:r>
              <a:r>
                <a:rPr lang="en-US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2400" dirty="0" err="1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prirodne</a:t>
              </a:r>
              <a:r>
                <a:rPr lang="en-US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2400" dirty="0" err="1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prijelaze</a:t>
              </a:r>
              <a:r>
                <a:rPr lang="en-US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</a:p>
          </p:txBody>
        </p:sp>
      </p:grpSp>
      <p:pic>
        <p:nvPicPr>
          <p:cNvPr id="20" name="Slika 19">
            <a:extLst>
              <a:ext uri="{FF2B5EF4-FFF2-40B4-BE49-F238E27FC236}">
                <a16:creationId xmlns:a16="http://schemas.microsoft.com/office/drawing/2014/main" id="{D2D18BAD-1581-7929-003E-D2B7A2726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713" y="1682108"/>
            <a:ext cx="6068575" cy="4089028"/>
          </a:xfrm>
          <a:prstGeom prst="rect">
            <a:avLst/>
          </a:prstGeom>
        </p:spPr>
      </p:pic>
      <p:pic>
        <p:nvPicPr>
          <p:cNvPr id="22" name="Slika 21">
            <a:extLst>
              <a:ext uri="{FF2B5EF4-FFF2-40B4-BE49-F238E27FC236}">
                <a16:creationId xmlns:a16="http://schemas.microsoft.com/office/drawing/2014/main" id="{0FA75B60-7C92-B1D0-342B-4B3A9D19BD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5640458"/>
            <a:ext cx="6093156" cy="4105591"/>
          </a:xfrm>
          <a:prstGeom prst="rect">
            <a:avLst/>
          </a:prstGeom>
        </p:spPr>
      </p:pic>
      <p:sp>
        <p:nvSpPr>
          <p:cNvPr id="24" name="TekstniOkvir 23">
            <a:extLst>
              <a:ext uri="{FF2B5EF4-FFF2-40B4-BE49-F238E27FC236}">
                <a16:creationId xmlns:a16="http://schemas.microsoft.com/office/drawing/2014/main" id="{F0C3E1C2-1D74-B2E3-20E1-8F9AE5E99776}"/>
              </a:ext>
            </a:extLst>
          </p:cNvPr>
          <p:cNvSpPr txBox="1"/>
          <p:nvPr/>
        </p:nvSpPr>
        <p:spPr>
          <a:xfrm>
            <a:off x="9372600" y="4072694"/>
            <a:ext cx="132071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2400" dirty="0">
                <a:solidFill>
                  <a:srgbClr val="E5E1D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 svakoj razini piramide biraju se najoštriji detalji.</a:t>
            </a:r>
          </a:p>
        </p:txBody>
      </p:sp>
      <p:sp>
        <p:nvSpPr>
          <p:cNvPr id="4" name="TextBox 18">
            <a:extLst>
              <a:ext uri="{FF2B5EF4-FFF2-40B4-BE49-F238E27FC236}">
                <a16:creationId xmlns:a16="http://schemas.microsoft.com/office/drawing/2014/main" id="{9F72E9A9-FE23-4228-4083-F18205A66B88}"/>
              </a:ext>
            </a:extLst>
          </p:cNvPr>
          <p:cNvSpPr txBox="1"/>
          <p:nvPr/>
        </p:nvSpPr>
        <p:spPr>
          <a:xfrm>
            <a:off x="12649200" y="5143500"/>
            <a:ext cx="2237163" cy="370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hr-HR" sz="2300" b="1" dirty="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Finalna fuzija</a:t>
            </a:r>
            <a:endParaRPr lang="en-US" sz="2300" b="1" dirty="0">
              <a:solidFill>
                <a:srgbClr val="FBF9F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894906F7-9340-3BDF-3377-EFDB8CD8D4C4}"/>
              </a:ext>
            </a:extLst>
          </p:cNvPr>
          <p:cNvSpPr txBox="1"/>
          <p:nvPr/>
        </p:nvSpPr>
        <p:spPr>
          <a:xfrm>
            <a:off x="2757326" y="5856192"/>
            <a:ext cx="5456592" cy="370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hr-HR" sz="2300" b="1" dirty="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Piramidalna selekcijska maska </a:t>
            </a:r>
            <a:endParaRPr lang="en-US" sz="2300" b="1" dirty="0">
              <a:solidFill>
                <a:srgbClr val="FBF9F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 rot="-2181579">
            <a:off x="14622652" y="162339"/>
            <a:ext cx="10128448" cy="10895890"/>
          </a:xfrm>
          <a:custGeom>
            <a:avLst/>
            <a:gdLst/>
            <a:ahLst/>
            <a:cxnLst/>
            <a:rect l="l" t="t" r="r" b="b"/>
            <a:pathLst>
              <a:path w="10128448" h="10895890">
                <a:moveTo>
                  <a:pt x="0" y="0"/>
                </a:moveTo>
                <a:lnTo>
                  <a:pt x="10128447" y="0"/>
                </a:lnTo>
                <a:lnTo>
                  <a:pt x="10128447" y="10895890"/>
                </a:lnTo>
                <a:lnTo>
                  <a:pt x="0" y="108958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7" r="-157"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14" name="TextBox 14"/>
          <p:cNvSpPr txBox="1"/>
          <p:nvPr/>
        </p:nvSpPr>
        <p:spPr>
          <a:xfrm>
            <a:off x="1028700" y="1019175"/>
            <a:ext cx="15506700" cy="850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hr-HR" sz="60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DEEP LEARNING PRISTUP FUZIJI (VGG19)</a:t>
            </a:r>
            <a:endParaRPr lang="en-US" sz="6000" b="1" dirty="0">
              <a:solidFill>
                <a:srgbClr val="FBF9F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505200" y="9205447"/>
            <a:ext cx="2237163" cy="370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hr-HR" sz="2300" b="1" dirty="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Finalna fuzija</a:t>
            </a:r>
            <a:endParaRPr lang="en-US" sz="2300" b="1" dirty="0">
              <a:solidFill>
                <a:srgbClr val="FBF9F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506200" y="5871467"/>
            <a:ext cx="3871736" cy="370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hr-HR" sz="2300" b="1" dirty="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Toplinska mapa aktivnosti</a:t>
            </a:r>
            <a:endParaRPr lang="en-US" sz="2300" b="1" dirty="0">
              <a:solidFill>
                <a:srgbClr val="FBF9F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pic>
        <p:nvPicPr>
          <p:cNvPr id="22" name="Slika 21">
            <a:extLst>
              <a:ext uri="{FF2B5EF4-FFF2-40B4-BE49-F238E27FC236}">
                <a16:creationId xmlns:a16="http://schemas.microsoft.com/office/drawing/2014/main" id="{81CF14CA-AA4D-FD4C-122E-39C9E16DE5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831" y="2010271"/>
            <a:ext cx="5626335" cy="3791045"/>
          </a:xfrm>
          <a:prstGeom prst="rect">
            <a:avLst/>
          </a:prstGeom>
        </p:spPr>
      </p:pic>
      <p:pic>
        <p:nvPicPr>
          <p:cNvPr id="24" name="Slika 23">
            <a:extLst>
              <a:ext uri="{FF2B5EF4-FFF2-40B4-BE49-F238E27FC236}">
                <a16:creationId xmlns:a16="http://schemas.microsoft.com/office/drawing/2014/main" id="{D7A40C70-D951-7C2F-F34C-DA0806587B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319" y="5204998"/>
            <a:ext cx="5626336" cy="3791045"/>
          </a:xfrm>
          <a:prstGeom prst="rect">
            <a:avLst/>
          </a:prstGeom>
        </p:spPr>
      </p:pic>
      <p:grpSp>
        <p:nvGrpSpPr>
          <p:cNvPr id="26" name="Group 10">
            <a:extLst>
              <a:ext uri="{FF2B5EF4-FFF2-40B4-BE49-F238E27FC236}">
                <a16:creationId xmlns:a16="http://schemas.microsoft.com/office/drawing/2014/main" id="{D2B0A2B3-B4F7-D19B-EE50-01DF1DB7D158}"/>
              </a:ext>
            </a:extLst>
          </p:cNvPr>
          <p:cNvGrpSpPr/>
          <p:nvPr/>
        </p:nvGrpSpPr>
        <p:grpSpPr>
          <a:xfrm>
            <a:off x="788650" y="3734681"/>
            <a:ext cx="8550087" cy="864489"/>
            <a:chOff x="0" y="0"/>
            <a:chExt cx="1968965" cy="227684"/>
          </a:xfrm>
        </p:grpSpPr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B0A77795-7AA6-0585-86E8-9CC1AE908DB5}"/>
                </a:ext>
              </a:extLst>
            </p:cNvPr>
            <p:cNvSpPr/>
            <p:nvPr/>
          </p:nvSpPr>
          <p:spPr>
            <a:xfrm>
              <a:off x="0" y="0"/>
              <a:ext cx="1968965" cy="227684"/>
            </a:xfrm>
            <a:custGeom>
              <a:avLst/>
              <a:gdLst/>
              <a:ahLst/>
              <a:cxnLst/>
              <a:rect l="l" t="t" r="r" b="b"/>
              <a:pathLst>
                <a:path w="1968965" h="227684">
                  <a:moveTo>
                    <a:pt x="62135" y="0"/>
                  </a:moveTo>
                  <a:lnTo>
                    <a:pt x="1906830" y="0"/>
                  </a:lnTo>
                  <a:cubicBezTo>
                    <a:pt x="1941146" y="0"/>
                    <a:pt x="1968965" y="27819"/>
                    <a:pt x="1968965" y="62135"/>
                  </a:cubicBezTo>
                  <a:lnTo>
                    <a:pt x="1968965" y="165549"/>
                  </a:lnTo>
                  <a:cubicBezTo>
                    <a:pt x="1968965" y="199866"/>
                    <a:pt x="1941146" y="227684"/>
                    <a:pt x="1906830" y="227684"/>
                  </a:cubicBezTo>
                  <a:lnTo>
                    <a:pt x="62135" y="227684"/>
                  </a:lnTo>
                  <a:cubicBezTo>
                    <a:pt x="27819" y="227684"/>
                    <a:pt x="0" y="199866"/>
                    <a:pt x="0" y="165549"/>
                  </a:cubicBezTo>
                  <a:lnTo>
                    <a:pt x="0" y="62135"/>
                  </a:lnTo>
                  <a:cubicBezTo>
                    <a:pt x="0" y="27819"/>
                    <a:pt x="27819" y="0"/>
                    <a:pt x="6213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28" name="TextBox 12">
              <a:extLst>
                <a:ext uri="{FF2B5EF4-FFF2-40B4-BE49-F238E27FC236}">
                  <a16:creationId xmlns:a16="http://schemas.microsoft.com/office/drawing/2014/main" id="{FC0FFE63-DCC5-7BA8-5FD3-0A3BBBCC9655}"/>
                </a:ext>
              </a:extLst>
            </p:cNvPr>
            <p:cNvSpPr txBox="1"/>
            <p:nvPr/>
          </p:nvSpPr>
          <p:spPr>
            <a:xfrm>
              <a:off x="0" y="-38100"/>
              <a:ext cx="1968965" cy="265784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2799"/>
                </a:lnSpc>
              </a:pPr>
              <a:endParaRPr lang="en-US" sz="19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999687" y="3995067"/>
            <a:ext cx="7144313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hr-HR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ani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sloj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(block1_conv2) </a:t>
            </a:r>
            <a:r>
              <a:rPr lang="hr-HR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-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visok</a:t>
            </a:r>
            <a:r>
              <a:rPr lang="hr-HR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rezolucij</a:t>
            </a:r>
            <a:r>
              <a:rPr lang="hr-HR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grpSp>
        <p:nvGrpSpPr>
          <p:cNvPr id="29" name="Group 10">
            <a:extLst>
              <a:ext uri="{FF2B5EF4-FFF2-40B4-BE49-F238E27FC236}">
                <a16:creationId xmlns:a16="http://schemas.microsoft.com/office/drawing/2014/main" id="{5D16C7E2-5E6E-4766-0123-D4EAB82D529A}"/>
              </a:ext>
            </a:extLst>
          </p:cNvPr>
          <p:cNvGrpSpPr/>
          <p:nvPr/>
        </p:nvGrpSpPr>
        <p:grpSpPr>
          <a:xfrm>
            <a:off x="751779" y="2412069"/>
            <a:ext cx="8550087" cy="864489"/>
            <a:chOff x="0" y="0"/>
            <a:chExt cx="1968965" cy="227684"/>
          </a:xfrm>
        </p:grpSpPr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8BEEB633-8876-5A2B-C4ED-3504C76E60FB}"/>
                </a:ext>
              </a:extLst>
            </p:cNvPr>
            <p:cNvSpPr/>
            <p:nvPr/>
          </p:nvSpPr>
          <p:spPr>
            <a:xfrm>
              <a:off x="0" y="0"/>
              <a:ext cx="1968965" cy="227684"/>
            </a:xfrm>
            <a:custGeom>
              <a:avLst/>
              <a:gdLst/>
              <a:ahLst/>
              <a:cxnLst/>
              <a:rect l="l" t="t" r="r" b="b"/>
              <a:pathLst>
                <a:path w="1968965" h="227684">
                  <a:moveTo>
                    <a:pt x="62135" y="0"/>
                  </a:moveTo>
                  <a:lnTo>
                    <a:pt x="1906830" y="0"/>
                  </a:lnTo>
                  <a:cubicBezTo>
                    <a:pt x="1941146" y="0"/>
                    <a:pt x="1968965" y="27819"/>
                    <a:pt x="1968965" y="62135"/>
                  </a:cubicBezTo>
                  <a:lnTo>
                    <a:pt x="1968965" y="165549"/>
                  </a:lnTo>
                  <a:cubicBezTo>
                    <a:pt x="1968965" y="199866"/>
                    <a:pt x="1941146" y="227684"/>
                    <a:pt x="1906830" y="227684"/>
                  </a:cubicBezTo>
                  <a:lnTo>
                    <a:pt x="62135" y="227684"/>
                  </a:lnTo>
                  <a:cubicBezTo>
                    <a:pt x="27819" y="227684"/>
                    <a:pt x="0" y="199866"/>
                    <a:pt x="0" y="165549"/>
                  </a:cubicBezTo>
                  <a:lnTo>
                    <a:pt x="0" y="62135"/>
                  </a:lnTo>
                  <a:cubicBezTo>
                    <a:pt x="0" y="27819"/>
                    <a:pt x="27819" y="0"/>
                    <a:pt x="6213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213301BE-7CC2-53A6-1536-7CFB18D3592B}"/>
                </a:ext>
              </a:extLst>
            </p:cNvPr>
            <p:cNvSpPr txBox="1"/>
            <p:nvPr/>
          </p:nvSpPr>
          <p:spPr>
            <a:xfrm>
              <a:off x="0" y="-38100"/>
              <a:ext cx="1968965" cy="265784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2799"/>
                </a:lnSpc>
              </a:pPr>
              <a:endParaRPr lang="en-US" sz="19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466287" y="2646313"/>
            <a:ext cx="7939196" cy="363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hr-HR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retreniran</a:t>
            </a:r>
            <a:r>
              <a:rPr lang="hr-HR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dubok</a:t>
            </a:r>
            <a:r>
              <a:rPr lang="hr-HR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konvolucijsk</a:t>
            </a:r>
            <a:r>
              <a:rPr lang="hr-HR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neuronsk</a:t>
            </a:r>
            <a:r>
              <a:rPr lang="hr-HR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mrež</a:t>
            </a:r>
            <a:r>
              <a:rPr lang="hr-HR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grpSp>
        <p:nvGrpSpPr>
          <p:cNvPr id="39" name="Grupa 38">
            <a:extLst>
              <a:ext uri="{FF2B5EF4-FFF2-40B4-BE49-F238E27FC236}">
                <a16:creationId xmlns:a16="http://schemas.microsoft.com/office/drawing/2014/main" id="{BF3873D0-9AE0-1C51-CDDF-5BBEEEBEE42C}"/>
              </a:ext>
            </a:extLst>
          </p:cNvPr>
          <p:cNvGrpSpPr/>
          <p:nvPr/>
        </p:nvGrpSpPr>
        <p:grpSpPr>
          <a:xfrm>
            <a:off x="8610600" y="8217496"/>
            <a:ext cx="8550087" cy="864489"/>
            <a:chOff x="6793318" y="8180273"/>
            <a:chExt cx="8550087" cy="864489"/>
          </a:xfrm>
        </p:grpSpPr>
        <p:grpSp>
          <p:nvGrpSpPr>
            <p:cNvPr id="35" name="Group 10">
              <a:extLst>
                <a:ext uri="{FF2B5EF4-FFF2-40B4-BE49-F238E27FC236}">
                  <a16:creationId xmlns:a16="http://schemas.microsoft.com/office/drawing/2014/main" id="{79041BF1-DA97-0412-7FC5-DEF5AD176DE9}"/>
                </a:ext>
              </a:extLst>
            </p:cNvPr>
            <p:cNvGrpSpPr/>
            <p:nvPr/>
          </p:nvGrpSpPr>
          <p:grpSpPr>
            <a:xfrm>
              <a:off x="6793318" y="8180273"/>
              <a:ext cx="8550087" cy="864489"/>
              <a:chOff x="0" y="0"/>
              <a:chExt cx="1968965" cy="227684"/>
            </a:xfrm>
          </p:grpSpPr>
          <p:sp>
            <p:nvSpPr>
              <p:cNvPr id="36" name="Freeform 11">
                <a:extLst>
                  <a:ext uri="{FF2B5EF4-FFF2-40B4-BE49-F238E27FC236}">
                    <a16:creationId xmlns:a16="http://schemas.microsoft.com/office/drawing/2014/main" id="{12BB52FD-8860-E628-21F2-7C67F18C0A54}"/>
                  </a:ext>
                </a:extLst>
              </p:cNvPr>
              <p:cNvSpPr/>
              <p:nvPr/>
            </p:nvSpPr>
            <p:spPr>
              <a:xfrm>
                <a:off x="0" y="0"/>
                <a:ext cx="1968965" cy="227684"/>
              </a:xfrm>
              <a:custGeom>
                <a:avLst/>
                <a:gdLst/>
                <a:ahLst/>
                <a:cxnLst/>
                <a:rect l="l" t="t" r="r" b="b"/>
                <a:pathLst>
                  <a:path w="1968965" h="227684">
                    <a:moveTo>
                      <a:pt x="62135" y="0"/>
                    </a:moveTo>
                    <a:lnTo>
                      <a:pt x="1906830" y="0"/>
                    </a:lnTo>
                    <a:cubicBezTo>
                      <a:pt x="1941146" y="0"/>
                      <a:pt x="1968965" y="27819"/>
                      <a:pt x="1968965" y="62135"/>
                    </a:cubicBezTo>
                    <a:lnTo>
                      <a:pt x="1968965" y="165549"/>
                    </a:lnTo>
                    <a:cubicBezTo>
                      <a:pt x="1968965" y="199866"/>
                      <a:pt x="1941146" y="227684"/>
                      <a:pt x="1906830" y="227684"/>
                    </a:cubicBezTo>
                    <a:lnTo>
                      <a:pt x="62135" y="227684"/>
                    </a:lnTo>
                    <a:cubicBezTo>
                      <a:pt x="27819" y="227684"/>
                      <a:pt x="0" y="199866"/>
                      <a:pt x="0" y="165549"/>
                    </a:cubicBezTo>
                    <a:lnTo>
                      <a:pt x="0" y="62135"/>
                    </a:lnTo>
                    <a:cubicBezTo>
                      <a:pt x="0" y="27819"/>
                      <a:pt x="27819" y="0"/>
                      <a:pt x="6213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E5E1DA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hr-HR"/>
              </a:p>
            </p:txBody>
          </p:sp>
          <p:sp>
            <p:nvSpPr>
              <p:cNvPr id="37" name="TextBox 12">
                <a:extLst>
                  <a:ext uri="{FF2B5EF4-FFF2-40B4-BE49-F238E27FC236}">
                    <a16:creationId xmlns:a16="http://schemas.microsoft.com/office/drawing/2014/main" id="{516AF512-492B-5318-A6C1-D2480BD102C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968965" cy="265784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l">
                  <a:lnSpc>
                    <a:spcPts val="2799"/>
                  </a:lnSpc>
                </a:pPr>
                <a:endParaRPr lang="en-US" sz="1999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25" name="TextBox 19">
              <a:extLst>
                <a:ext uri="{FF2B5EF4-FFF2-40B4-BE49-F238E27FC236}">
                  <a16:creationId xmlns:a16="http://schemas.microsoft.com/office/drawing/2014/main" id="{17AE4822-941B-43F0-5D02-267FE8B8A257}"/>
                </a:ext>
              </a:extLst>
            </p:cNvPr>
            <p:cNvSpPr txBox="1"/>
            <p:nvPr/>
          </p:nvSpPr>
          <p:spPr>
            <a:xfrm>
              <a:off x="7838966" y="8399955"/>
              <a:ext cx="7128000" cy="3590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hr-HR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Otpornost na šum senzora i variranje osvjetljenja.</a:t>
              </a:r>
              <a:endPara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8" name="Grupa 37">
            <a:extLst>
              <a:ext uri="{FF2B5EF4-FFF2-40B4-BE49-F238E27FC236}">
                <a16:creationId xmlns:a16="http://schemas.microsoft.com/office/drawing/2014/main" id="{6F84B949-63A0-04E7-EDDF-31DCCEDEF263}"/>
              </a:ext>
            </a:extLst>
          </p:cNvPr>
          <p:cNvGrpSpPr/>
          <p:nvPr/>
        </p:nvGrpSpPr>
        <p:grpSpPr>
          <a:xfrm>
            <a:off x="8610600" y="6810922"/>
            <a:ext cx="8597341" cy="864489"/>
            <a:chOff x="6793317" y="6849747"/>
            <a:chExt cx="8597341" cy="864489"/>
          </a:xfrm>
        </p:grpSpPr>
        <p:grpSp>
          <p:nvGrpSpPr>
            <p:cNvPr id="32" name="Group 10">
              <a:extLst>
                <a:ext uri="{FF2B5EF4-FFF2-40B4-BE49-F238E27FC236}">
                  <a16:creationId xmlns:a16="http://schemas.microsoft.com/office/drawing/2014/main" id="{FDD605DF-5C65-D3BB-F780-D7316E7D195A}"/>
                </a:ext>
              </a:extLst>
            </p:cNvPr>
            <p:cNvGrpSpPr/>
            <p:nvPr/>
          </p:nvGrpSpPr>
          <p:grpSpPr>
            <a:xfrm>
              <a:off x="6793317" y="6849747"/>
              <a:ext cx="8550087" cy="864489"/>
              <a:chOff x="0" y="0"/>
              <a:chExt cx="1968965" cy="227684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A607491D-A850-349A-28B2-63608640A3C1}"/>
                  </a:ext>
                </a:extLst>
              </p:cNvPr>
              <p:cNvSpPr/>
              <p:nvPr/>
            </p:nvSpPr>
            <p:spPr>
              <a:xfrm>
                <a:off x="0" y="0"/>
                <a:ext cx="1968965" cy="227684"/>
              </a:xfrm>
              <a:custGeom>
                <a:avLst/>
                <a:gdLst/>
                <a:ahLst/>
                <a:cxnLst/>
                <a:rect l="l" t="t" r="r" b="b"/>
                <a:pathLst>
                  <a:path w="1968965" h="227684">
                    <a:moveTo>
                      <a:pt x="62135" y="0"/>
                    </a:moveTo>
                    <a:lnTo>
                      <a:pt x="1906830" y="0"/>
                    </a:lnTo>
                    <a:cubicBezTo>
                      <a:pt x="1941146" y="0"/>
                      <a:pt x="1968965" y="27819"/>
                      <a:pt x="1968965" y="62135"/>
                    </a:cubicBezTo>
                    <a:lnTo>
                      <a:pt x="1968965" y="165549"/>
                    </a:lnTo>
                    <a:cubicBezTo>
                      <a:pt x="1968965" y="199866"/>
                      <a:pt x="1941146" y="227684"/>
                      <a:pt x="1906830" y="227684"/>
                    </a:cubicBezTo>
                    <a:lnTo>
                      <a:pt x="62135" y="227684"/>
                    </a:lnTo>
                    <a:cubicBezTo>
                      <a:pt x="27819" y="227684"/>
                      <a:pt x="0" y="199866"/>
                      <a:pt x="0" y="165549"/>
                    </a:cubicBezTo>
                    <a:lnTo>
                      <a:pt x="0" y="62135"/>
                    </a:lnTo>
                    <a:cubicBezTo>
                      <a:pt x="0" y="27819"/>
                      <a:pt x="27819" y="0"/>
                      <a:pt x="6213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E5E1DA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hr-HR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D3E3CD5B-308C-CA44-C137-BA95EEE88DE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968965" cy="265784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l">
                  <a:lnSpc>
                    <a:spcPts val="2799"/>
                  </a:lnSpc>
                </a:pPr>
                <a:endParaRPr lang="en-US" sz="1999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7313458" y="7102454"/>
              <a:ext cx="8077200" cy="3590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hr-HR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P</a:t>
              </a:r>
              <a:r>
                <a:rPr lang="en-US" sz="2400" dirty="0" err="1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repoznaje</a:t>
              </a:r>
              <a:r>
                <a:rPr lang="en-US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2400" dirty="0" err="1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složene</a:t>
              </a:r>
              <a:r>
                <a:rPr lang="en-US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2400" dirty="0" err="1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teksture</a:t>
              </a:r>
              <a:r>
                <a:rPr lang="en-US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2400" dirty="0" err="1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i</a:t>
              </a:r>
              <a:r>
                <a:rPr lang="en-US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2400" dirty="0" err="1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uzorke</a:t>
              </a:r>
              <a:r>
                <a:rPr lang="en-US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 (pattern-matching).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98397" y="1393818"/>
            <a:ext cx="13745171" cy="10034901"/>
          </a:xfrm>
          <a:custGeom>
            <a:avLst/>
            <a:gdLst/>
            <a:ahLst/>
            <a:cxnLst/>
            <a:rect l="l" t="t" r="r" b="b"/>
            <a:pathLst>
              <a:path w="13745171" h="10034901">
                <a:moveTo>
                  <a:pt x="0" y="0"/>
                </a:moveTo>
                <a:lnTo>
                  <a:pt x="13745172" y="0"/>
                </a:lnTo>
                <a:lnTo>
                  <a:pt x="13745172" y="10034901"/>
                </a:lnTo>
                <a:lnTo>
                  <a:pt x="0" y="10034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3" r="-523"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9" name="Freeform 9"/>
          <p:cNvSpPr/>
          <p:nvPr/>
        </p:nvSpPr>
        <p:spPr>
          <a:xfrm>
            <a:off x="17914968" y="9891731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13" name="Group 13"/>
          <p:cNvGrpSpPr/>
          <p:nvPr/>
        </p:nvGrpSpPr>
        <p:grpSpPr>
          <a:xfrm>
            <a:off x="12042540" y="1783102"/>
            <a:ext cx="6101028" cy="2337561"/>
            <a:chOff x="0" y="0"/>
            <a:chExt cx="1797245" cy="5562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97245" cy="556262"/>
            </a:xfrm>
            <a:custGeom>
              <a:avLst/>
              <a:gdLst/>
              <a:ahLst/>
              <a:cxnLst/>
              <a:rect l="l" t="t" r="r" b="b"/>
              <a:pathLst>
                <a:path w="1797245" h="556262">
                  <a:moveTo>
                    <a:pt x="22691" y="0"/>
                  </a:moveTo>
                  <a:lnTo>
                    <a:pt x="1774554" y="0"/>
                  </a:lnTo>
                  <a:cubicBezTo>
                    <a:pt x="1787086" y="0"/>
                    <a:pt x="1797245" y="10159"/>
                    <a:pt x="1797245" y="22691"/>
                  </a:cubicBezTo>
                  <a:lnTo>
                    <a:pt x="1797245" y="533571"/>
                  </a:lnTo>
                  <a:cubicBezTo>
                    <a:pt x="1797245" y="546103"/>
                    <a:pt x="1787086" y="556262"/>
                    <a:pt x="1774554" y="556262"/>
                  </a:cubicBezTo>
                  <a:lnTo>
                    <a:pt x="22691" y="556262"/>
                  </a:lnTo>
                  <a:cubicBezTo>
                    <a:pt x="10159" y="556262"/>
                    <a:pt x="0" y="546103"/>
                    <a:pt x="0" y="533571"/>
                  </a:cubicBezTo>
                  <a:lnTo>
                    <a:pt x="0" y="22691"/>
                  </a:lnTo>
                  <a:cubicBezTo>
                    <a:pt x="0" y="10159"/>
                    <a:pt x="10159" y="0"/>
                    <a:pt x="22691" y="0"/>
                  </a:cubicBezTo>
                  <a:close/>
                </a:path>
              </a:pathLst>
            </a:custGeom>
            <a:solidFill>
              <a:srgbClr val="FFD944"/>
            </a:solidFill>
            <a:ln w="38100" cap="sq">
              <a:solidFill>
                <a:srgbClr val="FFD944"/>
              </a:solidFill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797245" cy="594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-189878" y="1408106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33" name="TextBox 33"/>
          <p:cNvSpPr txBox="1"/>
          <p:nvPr/>
        </p:nvSpPr>
        <p:spPr>
          <a:xfrm>
            <a:off x="297802" y="504528"/>
            <a:ext cx="18273462" cy="708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hr-HR" sz="50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EVALUACIJA NA JAVNOM SKUPU PODATAKA (MFI-WHU)</a:t>
            </a:r>
            <a:endParaRPr lang="en-US" sz="5000" b="1" dirty="0">
              <a:solidFill>
                <a:srgbClr val="FBF9F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2249780" y="1961483"/>
            <a:ext cx="5872185" cy="2345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2199" dirty="0">
                <a:latin typeface="Lato"/>
                <a:ea typeface="Lato"/>
                <a:cs typeface="Lato"/>
                <a:sym typeface="Lato"/>
              </a:rPr>
              <a:t>PSNR (</a:t>
            </a:r>
            <a:r>
              <a:rPr lang="hr-HR" sz="2400" dirty="0"/>
              <a:t>Peak Signal-to-</a:t>
            </a:r>
            <a:r>
              <a:rPr lang="hr-HR" sz="2400" dirty="0" err="1"/>
              <a:t>Noise</a:t>
            </a:r>
            <a:r>
              <a:rPr lang="hr-HR" sz="2400" dirty="0"/>
              <a:t> </a:t>
            </a:r>
            <a:r>
              <a:rPr lang="hr-HR" sz="2400" dirty="0" err="1"/>
              <a:t>Ratio</a:t>
            </a:r>
            <a:r>
              <a:rPr lang="hr-HR" sz="2199" dirty="0">
                <a:latin typeface="Lato"/>
                <a:ea typeface="Lato"/>
                <a:cs typeface="Lato"/>
                <a:sym typeface="Lato"/>
              </a:rPr>
              <a:t>) – čistoća slike i razina šuma – veća vrijednost -&gt; manji šum</a:t>
            </a:r>
          </a:p>
          <a:p>
            <a:pPr marL="342900" indent="-342900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2199" dirty="0">
                <a:latin typeface="Lato"/>
                <a:ea typeface="Lato"/>
                <a:cs typeface="Lato"/>
                <a:sym typeface="Lato"/>
              </a:rPr>
              <a:t>SSIM (</a:t>
            </a:r>
            <a:r>
              <a:rPr lang="hr-HR" sz="2400" dirty="0" err="1"/>
              <a:t>Structural</a:t>
            </a:r>
            <a:r>
              <a:rPr lang="hr-HR" sz="2400" dirty="0"/>
              <a:t> </a:t>
            </a:r>
            <a:r>
              <a:rPr lang="hr-HR" sz="2400" dirty="0" err="1"/>
              <a:t>Similarity</a:t>
            </a:r>
            <a:r>
              <a:rPr lang="hr-HR" sz="2400" dirty="0"/>
              <a:t> Index</a:t>
            </a:r>
            <a:r>
              <a:rPr lang="hr-HR" sz="2199" dirty="0">
                <a:latin typeface="Lato"/>
                <a:ea typeface="Lato"/>
                <a:cs typeface="Lato"/>
                <a:sym typeface="Lato"/>
              </a:rPr>
              <a:t>) – sličnost struktura i tekstura</a:t>
            </a:r>
          </a:p>
          <a:p>
            <a:pPr marL="342900" indent="-342900" algn="l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199" dirty="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3" name="Slika 42">
            <a:extLst>
              <a:ext uri="{FF2B5EF4-FFF2-40B4-BE49-F238E27FC236}">
                <a16:creationId xmlns:a16="http://schemas.microsoft.com/office/drawing/2014/main" id="{B5ECD005-068F-CE7D-41B9-686B21A432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1246" y="1815639"/>
            <a:ext cx="11945354" cy="2790817"/>
          </a:xfrm>
          <a:prstGeom prst="rect">
            <a:avLst/>
          </a:prstGeom>
        </p:spPr>
      </p:pic>
      <p:pic>
        <p:nvPicPr>
          <p:cNvPr id="45" name="Slika 44">
            <a:extLst>
              <a:ext uri="{FF2B5EF4-FFF2-40B4-BE49-F238E27FC236}">
                <a16:creationId xmlns:a16="http://schemas.microsoft.com/office/drawing/2014/main" id="{AF8B23BA-243D-DB03-03CF-CCA8875212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698" y="4563289"/>
            <a:ext cx="14685293" cy="2651765"/>
          </a:xfrm>
          <a:prstGeom prst="rect">
            <a:avLst/>
          </a:prstGeom>
        </p:spPr>
      </p:pic>
      <p:pic>
        <p:nvPicPr>
          <p:cNvPr id="47" name="Slika 46">
            <a:extLst>
              <a:ext uri="{FF2B5EF4-FFF2-40B4-BE49-F238E27FC236}">
                <a16:creationId xmlns:a16="http://schemas.microsoft.com/office/drawing/2014/main" id="{0520CE6F-35B9-76AC-9AE9-3E229AD329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58" y="7215054"/>
            <a:ext cx="16655746" cy="31373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355821" flipH="1" flipV="1">
            <a:off x="-3819711" y="-676055"/>
            <a:ext cx="9940582" cy="10671659"/>
          </a:xfrm>
          <a:custGeom>
            <a:avLst/>
            <a:gdLst/>
            <a:ahLst/>
            <a:cxnLst/>
            <a:rect l="l" t="t" r="r" b="b"/>
            <a:pathLst>
              <a:path w="9940582" h="10671659">
                <a:moveTo>
                  <a:pt x="9940582" y="10671659"/>
                </a:moveTo>
                <a:lnTo>
                  <a:pt x="0" y="10671659"/>
                </a:lnTo>
                <a:lnTo>
                  <a:pt x="0" y="0"/>
                </a:lnTo>
                <a:lnTo>
                  <a:pt x="9940582" y="0"/>
                </a:lnTo>
                <a:lnTo>
                  <a:pt x="9940582" y="10671659"/>
                </a:lnTo>
                <a:close/>
              </a:path>
            </a:pathLst>
          </a:custGeom>
          <a:blipFill>
            <a:blip r:embed="rId2"/>
            <a:stretch>
              <a:fillRect l="-54" r="-5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559016" y="1409700"/>
            <a:ext cx="4366933" cy="932720"/>
            <a:chOff x="0" y="0"/>
            <a:chExt cx="1150139" cy="24565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50139" cy="245655"/>
            </a:xfrm>
            <a:custGeom>
              <a:avLst/>
              <a:gdLst/>
              <a:ahLst/>
              <a:cxnLst/>
              <a:rect l="l" t="t" r="r" b="b"/>
              <a:pathLst>
                <a:path w="1150139" h="245655">
                  <a:moveTo>
                    <a:pt x="106371" y="0"/>
                  </a:moveTo>
                  <a:lnTo>
                    <a:pt x="1043768" y="0"/>
                  </a:lnTo>
                  <a:cubicBezTo>
                    <a:pt x="1071979" y="0"/>
                    <a:pt x="1099035" y="11207"/>
                    <a:pt x="1118983" y="31155"/>
                  </a:cubicBezTo>
                  <a:cubicBezTo>
                    <a:pt x="1138932" y="51104"/>
                    <a:pt x="1150139" y="78160"/>
                    <a:pt x="1150139" y="106371"/>
                  </a:cubicBezTo>
                  <a:lnTo>
                    <a:pt x="1150139" y="139284"/>
                  </a:lnTo>
                  <a:cubicBezTo>
                    <a:pt x="1150139" y="198031"/>
                    <a:pt x="1102515" y="245655"/>
                    <a:pt x="1043768" y="245655"/>
                  </a:cubicBezTo>
                  <a:lnTo>
                    <a:pt x="106371" y="245655"/>
                  </a:lnTo>
                  <a:cubicBezTo>
                    <a:pt x="78160" y="245655"/>
                    <a:pt x="51104" y="234448"/>
                    <a:pt x="31155" y="214499"/>
                  </a:cubicBezTo>
                  <a:cubicBezTo>
                    <a:pt x="11207" y="194551"/>
                    <a:pt x="0" y="167495"/>
                    <a:pt x="0" y="139284"/>
                  </a:cubicBezTo>
                  <a:lnTo>
                    <a:pt x="0" y="106371"/>
                  </a:lnTo>
                  <a:cubicBezTo>
                    <a:pt x="0" y="78160"/>
                    <a:pt x="11207" y="51104"/>
                    <a:pt x="31155" y="31155"/>
                  </a:cubicBezTo>
                  <a:cubicBezTo>
                    <a:pt x="51104" y="11207"/>
                    <a:pt x="78160" y="0"/>
                    <a:pt x="106371" y="0"/>
                  </a:cubicBezTo>
                  <a:close/>
                </a:path>
              </a:pathLst>
            </a:custGeom>
            <a:solidFill>
              <a:srgbClr val="FFD944"/>
            </a:solidFill>
            <a:ln w="38100" cap="rnd">
              <a:solidFill>
                <a:srgbClr val="FFD944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150139" cy="293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4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hr-HR" sz="2499" b="1" dirty="0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SSIM (strukturna sličnost)</a:t>
              </a:r>
              <a:endParaRPr kumimoji="0" lang="en-US" sz="2499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Bold"/>
                <a:ea typeface="Lato Bold"/>
                <a:cs typeface="Lato Bold"/>
                <a:sym typeface="Lato Bo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164752" y="1409700"/>
            <a:ext cx="4366933" cy="932720"/>
            <a:chOff x="0" y="0"/>
            <a:chExt cx="1150139" cy="2456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50139" cy="245655"/>
            </a:xfrm>
            <a:custGeom>
              <a:avLst/>
              <a:gdLst/>
              <a:ahLst/>
              <a:cxnLst/>
              <a:rect l="l" t="t" r="r" b="b"/>
              <a:pathLst>
                <a:path w="1150139" h="245655">
                  <a:moveTo>
                    <a:pt x="106371" y="0"/>
                  </a:moveTo>
                  <a:lnTo>
                    <a:pt x="1043768" y="0"/>
                  </a:lnTo>
                  <a:cubicBezTo>
                    <a:pt x="1071979" y="0"/>
                    <a:pt x="1099035" y="11207"/>
                    <a:pt x="1118983" y="31155"/>
                  </a:cubicBezTo>
                  <a:cubicBezTo>
                    <a:pt x="1138932" y="51104"/>
                    <a:pt x="1150139" y="78160"/>
                    <a:pt x="1150139" y="106371"/>
                  </a:cubicBezTo>
                  <a:lnTo>
                    <a:pt x="1150139" y="139284"/>
                  </a:lnTo>
                  <a:cubicBezTo>
                    <a:pt x="1150139" y="198031"/>
                    <a:pt x="1102515" y="245655"/>
                    <a:pt x="1043768" y="245655"/>
                  </a:cubicBezTo>
                  <a:lnTo>
                    <a:pt x="106371" y="245655"/>
                  </a:lnTo>
                  <a:cubicBezTo>
                    <a:pt x="78160" y="245655"/>
                    <a:pt x="51104" y="234448"/>
                    <a:pt x="31155" y="214499"/>
                  </a:cubicBezTo>
                  <a:cubicBezTo>
                    <a:pt x="11207" y="194551"/>
                    <a:pt x="0" y="167495"/>
                    <a:pt x="0" y="139284"/>
                  </a:cubicBezTo>
                  <a:lnTo>
                    <a:pt x="0" y="106371"/>
                  </a:lnTo>
                  <a:cubicBezTo>
                    <a:pt x="0" y="78160"/>
                    <a:pt x="11207" y="51104"/>
                    <a:pt x="31155" y="31155"/>
                  </a:cubicBezTo>
                  <a:cubicBezTo>
                    <a:pt x="51104" y="11207"/>
                    <a:pt x="78160" y="0"/>
                    <a:pt x="106371" y="0"/>
                  </a:cubicBezTo>
                  <a:close/>
                </a:path>
              </a:pathLst>
            </a:custGeom>
            <a:solidFill>
              <a:srgbClr val="FFD944"/>
            </a:solidFill>
            <a:ln w="38100" cap="rnd">
              <a:solidFill>
                <a:srgbClr val="FFD944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150139" cy="293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4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hr-HR" sz="2499" b="1" dirty="0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PSNR (omjer signala i šuma)</a:t>
              </a:r>
              <a:endParaRPr kumimoji="0" lang="en-US" sz="2499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Bold"/>
                <a:ea typeface="Lato Bold"/>
                <a:cs typeface="Lato Bold"/>
                <a:sym typeface="Lato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70487" y="1409700"/>
            <a:ext cx="4366933" cy="932720"/>
            <a:chOff x="0" y="0"/>
            <a:chExt cx="1150139" cy="2456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50139" cy="245655"/>
            </a:xfrm>
            <a:custGeom>
              <a:avLst/>
              <a:gdLst/>
              <a:ahLst/>
              <a:cxnLst/>
              <a:rect l="l" t="t" r="r" b="b"/>
              <a:pathLst>
                <a:path w="1150139" h="245655">
                  <a:moveTo>
                    <a:pt x="106371" y="0"/>
                  </a:moveTo>
                  <a:lnTo>
                    <a:pt x="1043768" y="0"/>
                  </a:lnTo>
                  <a:cubicBezTo>
                    <a:pt x="1071979" y="0"/>
                    <a:pt x="1099035" y="11207"/>
                    <a:pt x="1118983" y="31155"/>
                  </a:cubicBezTo>
                  <a:cubicBezTo>
                    <a:pt x="1138932" y="51104"/>
                    <a:pt x="1150139" y="78160"/>
                    <a:pt x="1150139" y="106371"/>
                  </a:cubicBezTo>
                  <a:lnTo>
                    <a:pt x="1150139" y="139284"/>
                  </a:lnTo>
                  <a:cubicBezTo>
                    <a:pt x="1150139" y="198031"/>
                    <a:pt x="1102515" y="245655"/>
                    <a:pt x="1043768" y="245655"/>
                  </a:cubicBezTo>
                  <a:lnTo>
                    <a:pt x="106371" y="245655"/>
                  </a:lnTo>
                  <a:cubicBezTo>
                    <a:pt x="78160" y="245655"/>
                    <a:pt x="51104" y="234448"/>
                    <a:pt x="31155" y="214499"/>
                  </a:cubicBezTo>
                  <a:cubicBezTo>
                    <a:pt x="11207" y="194551"/>
                    <a:pt x="0" y="167495"/>
                    <a:pt x="0" y="139284"/>
                  </a:cubicBezTo>
                  <a:lnTo>
                    <a:pt x="0" y="106371"/>
                  </a:lnTo>
                  <a:cubicBezTo>
                    <a:pt x="0" y="78160"/>
                    <a:pt x="11207" y="51104"/>
                    <a:pt x="31155" y="31155"/>
                  </a:cubicBezTo>
                  <a:cubicBezTo>
                    <a:pt x="51104" y="11207"/>
                    <a:pt x="78160" y="0"/>
                    <a:pt x="106371" y="0"/>
                  </a:cubicBezTo>
                  <a:close/>
                </a:path>
              </a:pathLst>
            </a:custGeom>
            <a:solidFill>
              <a:srgbClr val="FFD944"/>
            </a:solidFill>
            <a:ln w="38100" cap="rnd">
              <a:solidFill>
                <a:srgbClr val="FFD944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150139" cy="293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4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99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ato Bold"/>
                  <a:ea typeface="Lato Bold"/>
                  <a:cs typeface="Lato Bold"/>
                  <a:sym typeface="Lato Bold"/>
                </a:rPr>
                <a:t>P</a:t>
              </a:r>
              <a:r>
                <a:rPr kumimoji="0" lang="hr-HR" sz="2499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ato Bold"/>
                  <a:ea typeface="Lato Bold"/>
                  <a:cs typeface="Lato Bold"/>
                  <a:sym typeface="Lato Bold"/>
                </a:rPr>
                <a:t>rosječna</a:t>
              </a:r>
              <a:r>
                <a:rPr kumimoji="0" lang="hr-HR" sz="2499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ato Bold"/>
                  <a:ea typeface="Lato Bold"/>
                  <a:cs typeface="Lato Bold"/>
                  <a:sym typeface="Lato Bold"/>
                </a:rPr>
                <a:t> varijanca</a:t>
              </a:r>
              <a:endParaRPr kumimoji="0" lang="en-US" sz="2499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Bold"/>
                <a:ea typeface="Lato Bold"/>
                <a:cs typeface="Lato Bold"/>
                <a:sym typeface="Lato Bold"/>
              </a:endParaRPr>
            </a:p>
          </p:txBody>
        </p:sp>
      </p:grpSp>
      <p:graphicFrame>
        <p:nvGraphicFramePr>
          <p:cNvPr id="12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863474"/>
              </p:ext>
            </p:extLst>
          </p:nvPr>
        </p:nvGraphicFramePr>
        <p:xfrm>
          <a:off x="1150580" y="2639524"/>
          <a:ext cx="15986840" cy="6059157"/>
        </p:xfrm>
        <a:graphic>
          <a:graphicData uri="http://schemas.openxmlformats.org/drawingml/2006/table">
            <a:tbl>
              <a:tblPr/>
              <a:tblGrid>
                <a:gridCol w="2259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9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6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31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40000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hr-HR" sz="2499" b="1" dirty="0" err="1">
                          <a:solidFill>
                            <a:srgbClr val="00000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 Bold"/>
                        </a:rPr>
                        <a:t>Laplacian</a:t>
                      </a:r>
                      <a:endParaRPr lang="en-US" sz="1100" b="1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hr-HR" sz="2800" b="1" dirty="0">
                          <a:solidFill>
                            <a:srgbClr val="FFD944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 Bold"/>
                        </a:rPr>
                        <a:t>0.9836</a:t>
                      </a:r>
                      <a:endParaRPr lang="en-US" sz="2800" b="1" dirty="0">
                        <a:solidFill>
                          <a:srgbClr val="FFD944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hr-HR" sz="28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 Bold"/>
                        </a:rPr>
                        <a:t>35.41 Db</a:t>
                      </a:r>
                      <a:endParaRPr lang="en-US" sz="2800" b="1" dirty="0">
                        <a:solidFill>
                          <a:schemeClr val="bg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hr-HR" sz="28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 Bold"/>
                        </a:rPr>
                        <a:t>2204.16</a:t>
                      </a:r>
                      <a:endParaRPr lang="en-US" sz="2800" b="1" dirty="0">
                        <a:solidFill>
                          <a:schemeClr val="bg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6575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hr-HR" sz="2499" b="1" dirty="0" err="1">
                          <a:solidFill>
                            <a:srgbClr val="00000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 Bold"/>
                        </a:rPr>
                        <a:t>Tenengrad</a:t>
                      </a:r>
                      <a:endParaRPr lang="en-US" sz="1100" b="1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A"/>
                    </a:solidFill>
                  </a:tcPr>
                </a:tc>
                <a:tc>
                  <a:txBody>
                    <a:bodyPr/>
                    <a:lstStyle/>
                    <a:p>
                      <a:pPr marL="226695" lvl="1" indent="0" algn="ctr">
                        <a:lnSpc>
                          <a:spcPts val="2940"/>
                        </a:lnSpc>
                        <a:buFont typeface="Arial"/>
                        <a:buNone/>
                        <a:defRPr/>
                      </a:pPr>
                      <a:r>
                        <a:rPr lang="hr-HR" sz="28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"/>
                        </a:rPr>
                        <a:t>0.9823</a:t>
                      </a:r>
                      <a:endParaRPr lang="en-US" sz="2800" b="1" dirty="0">
                        <a:solidFill>
                          <a:schemeClr val="bg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Lato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26695" lvl="1" indent="0" algn="ctr">
                        <a:lnSpc>
                          <a:spcPts val="2940"/>
                        </a:lnSpc>
                        <a:buFont typeface="Arial"/>
                        <a:buNone/>
                        <a:defRPr/>
                      </a:pPr>
                      <a:r>
                        <a:rPr lang="hr-HR" sz="28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"/>
                        </a:rPr>
                        <a:t>34.75 dB</a:t>
                      </a:r>
                      <a:endParaRPr lang="en-US" sz="2800" b="1" dirty="0">
                        <a:solidFill>
                          <a:schemeClr val="bg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Lato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26695" lvl="1" indent="0" algn="ctr">
                        <a:lnSpc>
                          <a:spcPts val="2940"/>
                        </a:lnSpc>
                        <a:buFont typeface="Arial"/>
                        <a:buNone/>
                        <a:defRPr/>
                      </a:pPr>
                      <a:r>
                        <a:rPr lang="hr-HR" sz="28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"/>
                        </a:rPr>
                        <a:t>2173.56</a:t>
                      </a:r>
                      <a:endParaRPr lang="en-US" sz="2800" b="1" dirty="0">
                        <a:solidFill>
                          <a:schemeClr val="bg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Lato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1291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hr-HR" sz="2499" b="1" dirty="0">
                          <a:solidFill>
                            <a:srgbClr val="00000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 Bold"/>
                        </a:rPr>
                        <a:t>VGG19 (AI)</a:t>
                      </a:r>
                      <a:endParaRPr lang="en-US" sz="1100" b="1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A"/>
                    </a:solidFill>
                  </a:tcPr>
                </a:tc>
                <a:tc>
                  <a:txBody>
                    <a:bodyPr/>
                    <a:lstStyle/>
                    <a:p>
                      <a:pPr marL="226695" lvl="1" indent="0" algn="ctr">
                        <a:lnSpc>
                          <a:spcPts val="2940"/>
                        </a:lnSpc>
                        <a:buFont typeface="Arial"/>
                        <a:buNone/>
                        <a:defRPr/>
                      </a:pPr>
                      <a:r>
                        <a:rPr lang="hr-HR" sz="28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"/>
                        </a:rPr>
                        <a:t>0.9791</a:t>
                      </a:r>
                      <a:endParaRPr lang="en-US" sz="2800" b="1" dirty="0">
                        <a:solidFill>
                          <a:schemeClr val="bg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Lato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26695" lvl="1" indent="0" algn="ctr">
                        <a:lnSpc>
                          <a:spcPts val="2940"/>
                        </a:lnSpc>
                        <a:buFont typeface="Arial"/>
                        <a:buNone/>
                        <a:defRPr/>
                      </a:pPr>
                      <a:r>
                        <a:rPr lang="hr-HR" sz="2800" b="1" dirty="0">
                          <a:solidFill>
                            <a:srgbClr val="FFD944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"/>
                        </a:rPr>
                        <a:t>35.00 dB</a:t>
                      </a:r>
                      <a:endParaRPr lang="en-US" sz="2800" b="1" dirty="0">
                        <a:solidFill>
                          <a:srgbClr val="FFD944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Lato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26695" lvl="1" indent="0" algn="ctr">
                        <a:lnSpc>
                          <a:spcPts val="2940"/>
                        </a:lnSpc>
                        <a:buFont typeface="Arial"/>
                        <a:buNone/>
                        <a:defRPr/>
                      </a:pPr>
                      <a:r>
                        <a:rPr lang="hr-HR" sz="28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"/>
                        </a:rPr>
                        <a:t>1932.06</a:t>
                      </a:r>
                      <a:endParaRPr lang="en-US" sz="2800" b="1" dirty="0">
                        <a:solidFill>
                          <a:schemeClr val="bg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Lato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1291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hr-HR" sz="2499" b="1" dirty="0">
                          <a:solidFill>
                            <a:srgbClr val="00000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 Bold"/>
                        </a:rPr>
                        <a:t>Piramida</a:t>
                      </a:r>
                      <a:endParaRPr lang="en-US" sz="1100" b="1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hr-HR" sz="28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"/>
                        </a:rPr>
                        <a:t>0.9763</a:t>
                      </a:r>
                      <a:endParaRPr lang="en-US" sz="2800" b="1" dirty="0">
                        <a:solidFill>
                          <a:schemeClr val="bg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hr-HR" sz="28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32.69 dB</a:t>
                      </a:r>
                      <a:endParaRPr lang="en-US" sz="2800" b="1" dirty="0">
                        <a:solidFill>
                          <a:schemeClr val="bg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hr-HR" sz="2800" b="1" dirty="0">
                          <a:solidFill>
                            <a:srgbClr val="FFD944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2251.17</a:t>
                      </a:r>
                      <a:endParaRPr lang="en-US" sz="2800" b="1" dirty="0">
                        <a:solidFill>
                          <a:srgbClr val="FFD944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7116894" y="-3283768"/>
            <a:ext cx="9744477" cy="7040385"/>
          </a:xfrm>
          <a:custGeom>
            <a:avLst/>
            <a:gdLst/>
            <a:ahLst/>
            <a:cxnLst/>
            <a:rect l="l" t="t" r="r" b="b"/>
            <a:pathLst>
              <a:path w="9744477" h="7040385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3" name="Freeform 3"/>
          <p:cNvSpPr/>
          <p:nvPr/>
        </p:nvSpPr>
        <p:spPr>
          <a:xfrm rot="7410612">
            <a:off x="15236894" y="3514366"/>
            <a:ext cx="9744477" cy="7040385"/>
          </a:xfrm>
          <a:custGeom>
            <a:avLst/>
            <a:gdLst/>
            <a:ahLst/>
            <a:cxnLst/>
            <a:rect l="l" t="t" r="r" b="b"/>
            <a:pathLst>
              <a:path w="9744477" h="7040385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5" name="TextBox 5"/>
          <p:cNvSpPr txBox="1"/>
          <p:nvPr/>
        </p:nvSpPr>
        <p:spPr>
          <a:xfrm>
            <a:off x="2965673" y="828876"/>
            <a:ext cx="15615008" cy="850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hr-HR" sz="60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EVALUACIJA U REALNIM UVJETIMA</a:t>
            </a:r>
            <a:endParaRPr lang="en-US" sz="6000" b="1" dirty="0">
              <a:solidFill>
                <a:srgbClr val="FBF9F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851854" y="2510899"/>
            <a:ext cx="6823913" cy="1011004"/>
          </a:xfrm>
          <a:custGeom>
            <a:avLst/>
            <a:gdLst/>
            <a:ahLst/>
            <a:cxnLst/>
            <a:rect l="l" t="t" r="r" b="b"/>
            <a:pathLst>
              <a:path w="1797245" h="221145">
                <a:moveTo>
                  <a:pt x="68072" y="0"/>
                </a:moveTo>
                <a:lnTo>
                  <a:pt x="1729173" y="0"/>
                </a:lnTo>
                <a:cubicBezTo>
                  <a:pt x="1766768" y="0"/>
                  <a:pt x="1797245" y="30477"/>
                  <a:pt x="1797245" y="68072"/>
                </a:cubicBezTo>
                <a:lnTo>
                  <a:pt x="1797245" y="153073"/>
                </a:lnTo>
                <a:cubicBezTo>
                  <a:pt x="1797245" y="190668"/>
                  <a:pt x="1766768" y="221145"/>
                  <a:pt x="1729173" y="221145"/>
                </a:cubicBezTo>
                <a:lnTo>
                  <a:pt x="68072" y="221145"/>
                </a:lnTo>
                <a:cubicBezTo>
                  <a:pt x="30477" y="221145"/>
                  <a:pt x="0" y="190668"/>
                  <a:pt x="0" y="153073"/>
                </a:cubicBezTo>
                <a:lnTo>
                  <a:pt x="0" y="68072"/>
                </a:lnTo>
                <a:cubicBezTo>
                  <a:pt x="0" y="30477"/>
                  <a:pt x="30477" y="0"/>
                  <a:pt x="68072" y="0"/>
                </a:cubicBezTo>
                <a:close/>
              </a:path>
            </a:pathLst>
          </a:custGeom>
          <a:solidFill>
            <a:srgbClr val="000000"/>
          </a:solidFill>
          <a:ln w="38100" cap="rnd">
            <a:solidFill>
              <a:srgbClr val="E5E1DA"/>
            </a:solidFill>
            <a:prstDash val="solid"/>
            <a:round/>
          </a:ln>
        </p:spPr>
        <p:txBody>
          <a:bodyPr/>
          <a:lstStyle/>
          <a:p>
            <a:endParaRPr lang="hr-HR"/>
          </a:p>
        </p:txBody>
      </p:sp>
      <p:sp>
        <p:nvSpPr>
          <p:cNvPr id="9" name="TextBox 9"/>
          <p:cNvSpPr txBox="1"/>
          <p:nvPr/>
        </p:nvSpPr>
        <p:spPr>
          <a:xfrm>
            <a:off x="11178162" y="2728499"/>
            <a:ext cx="6198976" cy="54787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799"/>
              </a:lnSpc>
            </a:pP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Mikropomaci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kamere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promjena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perspektive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variranje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prirodnog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svjetla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763345" y="8315909"/>
            <a:ext cx="6823913" cy="1011600"/>
          </a:xfrm>
          <a:custGeom>
            <a:avLst/>
            <a:gdLst/>
            <a:ahLst/>
            <a:cxnLst/>
            <a:rect l="l" t="t" r="r" b="b"/>
            <a:pathLst>
              <a:path w="1797245" h="221145">
                <a:moveTo>
                  <a:pt x="68072" y="0"/>
                </a:moveTo>
                <a:lnTo>
                  <a:pt x="1729173" y="0"/>
                </a:lnTo>
                <a:cubicBezTo>
                  <a:pt x="1766768" y="0"/>
                  <a:pt x="1797245" y="30477"/>
                  <a:pt x="1797245" y="68072"/>
                </a:cubicBezTo>
                <a:lnTo>
                  <a:pt x="1797245" y="153073"/>
                </a:lnTo>
                <a:cubicBezTo>
                  <a:pt x="1797245" y="190668"/>
                  <a:pt x="1766768" y="221145"/>
                  <a:pt x="1729173" y="221145"/>
                </a:cubicBezTo>
                <a:lnTo>
                  <a:pt x="68072" y="221145"/>
                </a:lnTo>
                <a:cubicBezTo>
                  <a:pt x="30477" y="221145"/>
                  <a:pt x="0" y="190668"/>
                  <a:pt x="0" y="153073"/>
                </a:cubicBezTo>
                <a:lnTo>
                  <a:pt x="0" y="68072"/>
                </a:lnTo>
                <a:cubicBezTo>
                  <a:pt x="0" y="30477"/>
                  <a:pt x="30477" y="0"/>
                  <a:pt x="68072" y="0"/>
                </a:cubicBezTo>
                <a:close/>
              </a:path>
            </a:pathLst>
          </a:custGeom>
          <a:solidFill>
            <a:srgbClr val="FFD944"/>
          </a:solidFill>
          <a:ln w="38100" cap="rnd">
            <a:solidFill>
              <a:srgbClr val="FFD944"/>
            </a:solidFill>
            <a:prstDash val="solid"/>
            <a:round/>
          </a:ln>
        </p:spPr>
        <p:txBody>
          <a:bodyPr/>
          <a:lstStyle/>
          <a:p>
            <a:endParaRPr lang="hr-HR"/>
          </a:p>
        </p:txBody>
      </p:sp>
      <p:sp>
        <p:nvSpPr>
          <p:cNvPr id="12" name="TextBox 12"/>
          <p:cNvSpPr txBox="1"/>
          <p:nvPr/>
        </p:nvSpPr>
        <p:spPr>
          <a:xfrm>
            <a:off x="10900070" y="8332425"/>
            <a:ext cx="6570125" cy="98432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799"/>
              </a:lnSpc>
            </a:pP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Robusnost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sustava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na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artefakte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uspješno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proširenje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zone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fokusa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865693" y="3910490"/>
            <a:ext cx="6823913" cy="1011600"/>
          </a:xfrm>
          <a:custGeom>
            <a:avLst/>
            <a:gdLst/>
            <a:ahLst/>
            <a:cxnLst/>
            <a:rect l="l" t="t" r="r" b="b"/>
            <a:pathLst>
              <a:path w="1797245" h="221145">
                <a:moveTo>
                  <a:pt x="68072" y="0"/>
                </a:moveTo>
                <a:lnTo>
                  <a:pt x="1729173" y="0"/>
                </a:lnTo>
                <a:cubicBezTo>
                  <a:pt x="1766768" y="0"/>
                  <a:pt x="1797245" y="30477"/>
                  <a:pt x="1797245" y="68072"/>
                </a:cubicBezTo>
                <a:lnTo>
                  <a:pt x="1797245" y="153073"/>
                </a:lnTo>
                <a:cubicBezTo>
                  <a:pt x="1797245" y="190668"/>
                  <a:pt x="1766768" y="221145"/>
                  <a:pt x="1729173" y="221145"/>
                </a:cubicBezTo>
                <a:lnTo>
                  <a:pt x="68072" y="221145"/>
                </a:lnTo>
                <a:cubicBezTo>
                  <a:pt x="30477" y="221145"/>
                  <a:pt x="0" y="190668"/>
                  <a:pt x="0" y="153073"/>
                </a:cubicBezTo>
                <a:lnTo>
                  <a:pt x="0" y="68072"/>
                </a:lnTo>
                <a:cubicBezTo>
                  <a:pt x="0" y="30477"/>
                  <a:pt x="30477" y="0"/>
                  <a:pt x="68072" y="0"/>
                </a:cubicBezTo>
                <a:close/>
              </a:path>
            </a:pathLst>
          </a:custGeom>
          <a:solidFill>
            <a:srgbClr val="000000"/>
          </a:solidFill>
          <a:ln w="38100" cap="rnd">
            <a:solidFill>
              <a:srgbClr val="E5E1DA"/>
            </a:solidFill>
            <a:prstDash val="solid"/>
            <a:round/>
          </a:ln>
        </p:spPr>
        <p:txBody>
          <a:bodyPr/>
          <a:lstStyle/>
          <a:p>
            <a:endParaRPr lang="hr-HR"/>
          </a:p>
        </p:txBody>
      </p:sp>
      <p:sp>
        <p:nvSpPr>
          <p:cNvPr id="15" name="TextBox 15"/>
          <p:cNvSpPr txBox="1"/>
          <p:nvPr/>
        </p:nvSpPr>
        <p:spPr>
          <a:xfrm>
            <a:off x="11109649" y="3910490"/>
            <a:ext cx="6336000" cy="100982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799"/>
              </a:lnSpc>
            </a:pP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Metrika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evaluacije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Varijanca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oštrine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mjera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količine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detalja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).</a:t>
            </a:r>
          </a:p>
        </p:txBody>
      </p:sp>
      <p:sp>
        <p:nvSpPr>
          <p:cNvPr id="16" name="Freeform 16"/>
          <p:cNvSpPr/>
          <p:nvPr/>
        </p:nvSpPr>
        <p:spPr>
          <a:xfrm>
            <a:off x="16608890" y="703495"/>
            <a:ext cx="650410" cy="650410"/>
          </a:xfrm>
          <a:custGeom>
            <a:avLst/>
            <a:gdLst/>
            <a:ahLst/>
            <a:cxnLst/>
            <a:rect l="l" t="t" r="r" b="b"/>
            <a:pathLst>
              <a:path w="650410" h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17" name="Group 17"/>
          <p:cNvGrpSpPr/>
          <p:nvPr/>
        </p:nvGrpSpPr>
        <p:grpSpPr>
          <a:xfrm>
            <a:off x="1028700" y="703494"/>
            <a:ext cx="15338748" cy="1011005"/>
            <a:chOff x="0" y="0"/>
            <a:chExt cx="4039835" cy="17130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039835" cy="171301"/>
            </a:xfrm>
            <a:custGeom>
              <a:avLst/>
              <a:gdLst/>
              <a:ahLst/>
              <a:cxnLst/>
              <a:rect l="l" t="t" r="r" b="b"/>
              <a:pathLst>
                <a:path w="4039835" h="171301">
                  <a:moveTo>
                    <a:pt x="30284" y="0"/>
                  </a:moveTo>
                  <a:lnTo>
                    <a:pt x="4009551" y="0"/>
                  </a:lnTo>
                  <a:cubicBezTo>
                    <a:pt x="4026276" y="0"/>
                    <a:pt x="4039835" y="13559"/>
                    <a:pt x="4039835" y="30284"/>
                  </a:cubicBezTo>
                  <a:lnTo>
                    <a:pt x="4039835" y="141018"/>
                  </a:lnTo>
                  <a:cubicBezTo>
                    <a:pt x="4039835" y="157743"/>
                    <a:pt x="4026276" y="171301"/>
                    <a:pt x="4009551" y="171301"/>
                  </a:cubicBezTo>
                  <a:lnTo>
                    <a:pt x="30284" y="171301"/>
                  </a:lnTo>
                  <a:cubicBezTo>
                    <a:pt x="13559" y="171301"/>
                    <a:pt x="0" y="157743"/>
                    <a:pt x="0" y="141018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039835" cy="2094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1" name="Slika 20">
            <a:extLst>
              <a:ext uri="{FF2B5EF4-FFF2-40B4-BE49-F238E27FC236}">
                <a16:creationId xmlns:a16="http://schemas.microsoft.com/office/drawing/2014/main" id="{8B24F77C-5CC5-B177-2887-5423869565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84" y="2039064"/>
            <a:ext cx="10106905" cy="7784607"/>
          </a:xfrm>
          <a:prstGeom prst="rect">
            <a:avLst/>
          </a:prstGeom>
        </p:spPr>
      </p:pic>
      <p:sp>
        <p:nvSpPr>
          <p:cNvPr id="22" name="Freeform 14">
            <a:extLst>
              <a:ext uri="{FF2B5EF4-FFF2-40B4-BE49-F238E27FC236}">
                <a16:creationId xmlns:a16="http://schemas.microsoft.com/office/drawing/2014/main" id="{956403D2-7D48-6951-3861-9B53F86E437F}"/>
              </a:ext>
            </a:extLst>
          </p:cNvPr>
          <p:cNvSpPr/>
          <p:nvPr/>
        </p:nvSpPr>
        <p:spPr>
          <a:xfrm>
            <a:off x="10839940" y="5282346"/>
            <a:ext cx="6823913" cy="1011600"/>
          </a:xfrm>
          <a:custGeom>
            <a:avLst/>
            <a:gdLst/>
            <a:ahLst/>
            <a:cxnLst/>
            <a:rect l="l" t="t" r="r" b="b"/>
            <a:pathLst>
              <a:path w="1797245" h="221145">
                <a:moveTo>
                  <a:pt x="68072" y="0"/>
                </a:moveTo>
                <a:lnTo>
                  <a:pt x="1729173" y="0"/>
                </a:lnTo>
                <a:cubicBezTo>
                  <a:pt x="1766768" y="0"/>
                  <a:pt x="1797245" y="30477"/>
                  <a:pt x="1797245" y="68072"/>
                </a:cubicBezTo>
                <a:lnTo>
                  <a:pt x="1797245" y="153073"/>
                </a:lnTo>
                <a:cubicBezTo>
                  <a:pt x="1797245" y="190668"/>
                  <a:pt x="1766768" y="221145"/>
                  <a:pt x="1729173" y="221145"/>
                </a:cubicBezTo>
                <a:lnTo>
                  <a:pt x="68072" y="221145"/>
                </a:lnTo>
                <a:cubicBezTo>
                  <a:pt x="30477" y="221145"/>
                  <a:pt x="0" y="190668"/>
                  <a:pt x="0" y="153073"/>
                </a:cubicBezTo>
                <a:lnTo>
                  <a:pt x="0" y="68072"/>
                </a:lnTo>
                <a:cubicBezTo>
                  <a:pt x="0" y="30477"/>
                  <a:pt x="30477" y="0"/>
                  <a:pt x="68072" y="0"/>
                </a:cubicBezTo>
                <a:close/>
              </a:path>
            </a:pathLst>
          </a:custGeom>
          <a:solidFill>
            <a:srgbClr val="000000"/>
          </a:solidFill>
          <a:ln w="38100" cap="rnd">
            <a:solidFill>
              <a:srgbClr val="E5E1DA"/>
            </a:solidFill>
            <a:prstDash val="solid"/>
            <a:round/>
          </a:ln>
        </p:spPr>
        <p:txBody>
          <a:bodyPr/>
          <a:lstStyle/>
          <a:p>
            <a:endParaRPr lang="hr-HR"/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AEB292AF-7B42-EC2A-FAC1-AC97B101E67B}"/>
              </a:ext>
            </a:extLst>
          </p:cNvPr>
          <p:cNvSpPr txBox="1"/>
          <p:nvPr/>
        </p:nvSpPr>
        <p:spPr>
          <a:xfrm>
            <a:off x="11109649" y="5280566"/>
            <a:ext cx="6336000" cy="100982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799"/>
              </a:lnSpc>
            </a:pP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Uspješna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geometrijska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registracija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poravnanje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).</a:t>
            </a:r>
          </a:p>
        </p:txBody>
      </p:sp>
      <p:sp>
        <p:nvSpPr>
          <p:cNvPr id="24" name="Freeform 14">
            <a:extLst>
              <a:ext uri="{FF2B5EF4-FFF2-40B4-BE49-F238E27FC236}">
                <a16:creationId xmlns:a16="http://schemas.microsoft.com/office/drawing/2014/main" id="{5C48B367-BC90-33AF-B5D5-10DBEF8ABF76}"/>
              </a:ext>
            </a:extLst>
          </p:cNvPr>
          <p:cNvSpPr/>
          <p:nvPr/>
        </p:nvSpPr>
        <p:spPr>
          <a:xfrm>
            <a:off x="10839939" y="6712142"/>
            <a:ext cx="6823913" cy="1011600"/>
          </a:xfrm>
          <a:custGeom>
            <a:avLst/>
            <a:gdLst/>
            <a:ahLst/>
            <a:cxnLst/>
            <a:rect l="l" t="t" r="r" b="b"/>
            <a:pathLst>
              <a:path w="1797245" h="221145">
                <a:moveTo>
                  <a:pt x="68072" y="0"/>
                </a:moveTo>
                <a:lnTo>
                  <a:pt x="1729173" y="0"/>
                </a:lnTo>
                <a:cubicBezTo>
                  <a:pt x="1766768" y="0"/>
                  <a:pt x="1797245" y="30477"/>
                  <a:pt x="1797245" y="68072"/>
                </a:cubicBezTo>
                <a:lnTo>
                  <a:pt x="1797245" y="153073"/>
                </a:lnTo>
                <a:cubicBezTo>
                  <a:pt x="1797245" y="190668"/>
                  <a:pt x="1766768" y="221145"/>
                  <a:pt x="1729173" y="221145"/>
                </a:cubicBezTo>
                <a:lnTo>
                  <a:pt x="68072" y="221145"/>
                </a:lnTo>
                <a:cubicBezTo>
                  <a:pt x="30477" y="221145"/>
                  <a:pt x="0" y="190668"/>
                  <a:pt x="0" y="153073"/>
                </a:cubicBezTo>
                <a:lnTo>
                  <a:pt x="0" y="68072"/>
                </a:lnTo>
                <a:cubicBezTo>
                  <a:pt x="0" y="30477"/>
                  <a:pt x="30477" y="0"/>
                  <a:pt x="68072" y="0"/>
                </a:cubicBezTo>
                <a:close/>
              </a:path>
            </a:pathLst>
          </a:custGeom>
          <a:solidFill>
            <a:srgbClr val="000000"/>
          </a:solidFill>
          <a:ln w="38100" cap="rnd">
            <a:solidFill>
              <a:srgbClr val="E5E1DA"/>
            </a:solidFill>
            <a:prstDash val="solid"/>
            <a:round/>
          </a:ln>
        </p:spPr>
        <p:txBody>
          <a:bodyPr/>
          <a:lstStyle/>
          <a:p>
            <a:endParaRPr lang="hr-HR"/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820E14C7-3ADA-64CC-3C1F-B9AAD1DB8CBD}"/>
              </a:ext>
            </a:extLst>
          </p:cNvPr>
          <p:cNvSpPr txBox="1"/>
          <p:nvPr/>
        </p:nvSpPr>
        <p:spPr>
          <a:xfrm>
            <a:off x="11017133" y="6694796"/>
            <a:ext cx="6336000" cy="100982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799"/>
              </a:lnSpc>
            </a:pPr>
            <a:r>
              <a:rPr lang="pl-PL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Povećanje varijance u fuziranoj slici u odnosu na ulazni stack.</a:t>
            </a:r>
            <a:endParaRPr lang="en-US" sz="24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223014">
            <a:off x="10390308" y="-6185338"/>
            <a:ext cx="10128448" cy="10895890"/>
          </a:xfrm>
          <a:custGeom>
            <a:avLst/>
            <a:gdLst/>
            <a:ahLst/>
            <a:cxnLst/>
            <a:rect l="l" t="t" r="r" b="b"/>
            <a:pathLst>
              <a:path w="10128448" h="10895890">
                <a:moveTo>
                  <a:pt x="0" y="0"/>
                </a:moveTo>
                <a:lnTo>
                  <a:pt x="10128448" y="0"/>
                </a:lnTo>
                <a:lnTo>
                  <a:pt x="10128448" y="10895890"/>
                </a:lnTo>
                <a:lnTo>
                  <a:pt x="0" y="108958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7" r="-157"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3" name="Group 3"/>
          <p:cNvGrpSpPr/>
          <p:nvPr/>
        </p:nvGrpSpPr>
        <p:grpSpPr>
          <a:xfrm>
            <a:off x="1028700" y="4461803"/>
            <a:ext cx="16230600" cy="650410"/>
            <a:chOff x="0" y="0"/>
            <a:chExt cx="4274726" cy="17130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171301"/>
            </a:xfrm>
            <a:custGeom>
              <a:avLst/>
              <a:gdLst/>
              <a:ahLst/>
              <a:cxnLst/>
              <a:rect l="l" t="t" r="r" b="b"/>
              <a:pathLst>
                <a:path w="4274726" h="171301">
                  <a:moveTo>
                    <a:pt x="28620" y="0"/>
                  </a:moveTo>
                  <a:lnTo>
                    <a:pt x="4246106" y="0"/>
                  </a:lnTo>
                  <a:cubicBezTo>
                    <a:pt x="4261912" y="0"/>
                    <a:pt x="4274726" y="12813"/>
                    <a:pt x="4274726" y="28620"/>
                  </a:cubicBezTo>
                  <a:lnTo>
                    <a:pt x="4274726" y="142682"/>
                  </a:lnTo>
                  <a:cubicBezTo>
                    <a:pt x="4274726" y="158488"/>
                    <a:pt x="4261912" y="171301"/>
                    <a:pt x="4246106" y="171301"/>
                  </a:cubicBezTo>
                  <a:lnTo>
                    <a:pt x="28620" y="171301"/>
                  </a:lnTo>
                  <a:cubicBezTo>
                    <a:pt x="12813" y="171301"/>
                    <a:pt x="0" y="158488"/>
                    <a:pt x="0" y="142682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094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63411" y="4581384"/>
            <a:ext cx="408164" cy="411249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7" name="Freeform 7"/>
          <p:cNvSpPr/>
          <p:nvPr/>
        </p:nvSpPr>
        <p:spPr>
          <a:xfrm>
            <a:off x="7064656" y="4581384"/>
            <a:ext cx="408164" cy="411249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5" y="0"/>
                </a:lnTo>
                <a:lnTo>
                  <a:pt x="408165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9" name="Freeform 9"/>
          <p:cNvSpPr/>
          <p:nvPr/>
        </p:nvSpPr>
        <p:spPr>
          <a:xfrm>
            <a:off x="13571562" y="4538290"/>
            <a:ext cx="408164" cy="411249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10" name="Freeform 10"/>
          <p:cNvSpPr/>
          <p:nvPr/>
        </p:nvSpPr>
        <p:spPr>
          <a:xfrm>
            <a:off x="5867400" y="1303700"/>
            <a:ext cx="650410" cy="650410"/>
          </a:xfrm>
          <a:custGeom>
            <a:avLst/>
            <a:gdLst/>
            <a:ahLst/>
            <a:cxnLst/>
            <a:rect l="l" t="t" r="r" b="b"/>
            <a:pathLst>
              <a:path w="650410" h="650410">
                <a:moveTo>
                  <a:pt x="0" y="0"/>
                </a:moveTo>
                <a:lnTo>
                  <a:pt x="650411" y="0"/>
                </a:lnTo>
                <a:lnTo>
                  <a:pt x="650411" y="650411"/>
                </a:lnTo>
                <a:lnTo>
                  <a:pt x="0" y="6504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11" name="TextBox 11"/>
          <p:cNvSpPr txBox="1"/>
          <p:nvPr/>
        </p:nvSpPr>
        <p:spPr>
          <a:xfrm>
            <a:off x="1496004" y="5540838"/>
            <a:ext cx="3220434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hr-HR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HIBRIDNI SUSTAV</a:t>
            </a:r>
            <a:r>
              <a:rPr lang="en-US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63411" y="6261874"/>
            <a:ext cx="3253027" cy="1153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21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Klasični matematički operatori</a:t>
            </a:r>
          </a:p>
          <a:p>
            <a:pPr marL="342900" indent="-342900" algn="l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21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Deep</a:t>
            </a:r>
            <a:r>
              <a:rPr lang="hr-HR" sz="21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hr-HR" sz="21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Learning</a:t>
            </a:r>
            <a:r>
              <a:rPr lang="hr-HR" sz="21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pristup</a:t>
            </a:r>
            <a:endParaRPr lang="en-US" sz="2199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1290181"/>
            <a:ext cx="5717469" cy="850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hr-HR" sz="60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ZAKLJUČAK</a:t>
            </a:r>
            <a:endParaRPr lang="en-US" sz="6000" b="1" dirty="0">
              <a:solidFill>
                <a:srgbClr val="FBF9F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064656" y="5540836"/>
            <a:ext cx="4158687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hr-HR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ANALIZA UČINKOVITOSTI</a:t>
            </a:r>
            <a:endParaRPr lang="en-US" sz="2500" b="1" dirty="0">
              <a:solidFill>
                <a:srgbClr val="FFD944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064656" y="6261874"/>
            <a:ext cx="4461769" cy="27435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21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Piramidalna fuzija - najprirodnija rekonstrukcija bez vidljivih šavova</a:t>
            </a:r>
          </a:p>
          <a:p>
            <a:pPr marL="342900" indent="-342900" algn="l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21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VGG19 – superiorna čistoća slike, maksimalan PSNR</a:t>
            </a:r>
          </a:p>
          <a:p>
            <a:pPr marL="342900" indent="-342900" algn="l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21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Laplacian</a:t>
            </a:r>
            <a:r>
              <a:rPr lang="hr-HR" sz="21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– najveća strukturna točnost SSIM</a:t>
            </a:r>
            <a:endParaRPr lang="en-US" sz="2199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568346" y="5540837"/>
            <a:ext cx="4158687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hr-HR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PRAKTIČNA VRIJEDNOST</a:t>
            </a:r>
            <a:endParaRPr lang="en-US" sz="2500" b="1" dirty="0">
              <a:solidFill>
                <a:srgbClr val="FFD944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568346" y="6261874"/>
            <a:ext cx="3775241" cy="11533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21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Robusnost na pomake</a:t>
            </a:r>
          </a:p>
          <a:p>
            <a:pPr marL="342900" indent="-342900" algn="l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21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Primjena u realnim uvjetima</a:t>
            </a:r>
          </a:p>
          <a:p>
            <a:pPr marL="342900" indent="-342900" algn="l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21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Proširenje zone fokusa</a:t>
            </a:r>
            <a:endParaRPr lang="en-US" sz="2199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8665" y="645697"/>
            <a:ext cx="16598104" cy="995428"/>
            <a:chOff x="0" y="0"/>
            <a:chExt cx="4371517" cy="2621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1517" cy="262170"/>
            </a:xfrm>
            <a:custGeom>
              <a:avLst/>
              <a:gdLst/>
              <a:ahLst/>
              <a:cxnLst/>
              <a:rect l="l" t="t" r="r" b="b"/>
              <a:pathLst>
                <a:path w="4371517" h="262170">
                  <a:moveTo>
                    <a:pt x="29852" y="0"/>
                  </a:moveTo>
                  <a:lnTo>
                    <a:pt x="4341666" y="0"/>
                  </a:lnTo>
                  <a:cubicBezTo>
                    <a:pt x="4349583" y="0"/>
                    <a:pt x="4357176" y="3145"/>
                    <a:pt x="4362774" y="8743"/>
                  </a:cubicBezTo>
                  <a:cubicBezTo>
                    <a:pt x="4368372" y="14342"/>
                    <a:pt x="4371517" y="21935"/>
                    <a:pt x="4371517" y="29852"/>
                  </a:cubicBezTo>
                  <a:lnTo>
                    <a:pt x="4371517" y="232318"/>
                  </a:lnTo>
                  <a:cubicBezTo>
                    <a:pt x="4371517" y="248805"/>
                    <a:pt x="4358152" y="262170"/>
                    <a:pt x="4341666" y="262170"/>
                  </a:cubicBezTo>
                  <a:lnTo>
                    <a:pt x="29852" y="262170"/>
                  </a:lnTo>
                  <a:cubicBezTo>
                    <a:pt x="21935" y="262170"/>
                    <a:pt x="14342" y="259025"/>
                    <a:pt x="8743" y="253427"/>
                  </a:cubicBezTo>
                  <a:cubicBezTo>
                    <a:pt x="3145" y="247829"/>
                    <a:pt x="0" y="240236"/>
                    <a:pt x="0" y="232318"/>
                  </a:cubicBezTo>
                  <a:lnTo>
                    <a:pt x="0" y="29852"/>
                  </a:lnTo>
                  <a:cubicBezTo>
                    <a:pt x="0" y="21935"/>
                    <a:pt x="3145" y="14342"/>
                    <a:pt x="8743" y="8743"/>
                  </a:cubicBezTo>
                  <a:cubicBezTo>
                    <a:pt x="14342" y="3145"/>
                    <a:pt x="21935" y="0"/>
                    <a:pt x="29852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71517" cy="300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2100837" flipH="1">
            <a:off x="8982673" y="428119"/>
            <a:ext cx="8310061" cy="8781453"/>
          </a:xfrm>
          <a:custGeom>
            <a:avLst/>
            <a:gdLst/>
            <a:ahLst/>
            <a:cxnLst/>
            <a:rect l="l" t="t" r="r" b="b"/>
            <a:pathLst>
              <a:path w="8310061" h="8781453">
                <a:moveTo>
                  <a:pt x="8310061" y="0"/>
                </a:moveTo>
                <a:lnTo>
                  <a:pt x="0" y="0"/>
                </a:lnTo>
                <a:lnTo>
                  <a:pt x="0" y="8781453"/>
                </a:lnTo>
                <a:lnTo>
                  <a:pt x="8310061" y="8781453"/>
                </a:lnTo>
                <a:lnTo>
                  <a:pt x="8310061" y="0"/>
                </a:lnTo>
                <a:close/>
              </a:path>
            </a:pathLst>
          </a:custGeom>
          <a:blipFill>
            <a:blip r:embed="rId2"/>
            <a:stretch>
              <a:fillRect r="-381" b="-1869"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9" name="TextBox 9"/>
          <p:cNvSpPr txBox="1"/>
          <p:nvPr/>
        </p:nvSpPr>
        <p:spPr>
          <a:xfrm>
            <a:off x="928665" y="4201703"/>
            <a:ext cx="11411477" cy="1883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59"/>
              </a:lnSpc>
            </a:pPr>
            <a:r>
              <a:rPr lang="hr-HR" sz="96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HVALA NA PAŽNJI!</a:t>
            </a:r>
            <a:r>
              <a:rPr lang="en-US" sz="96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437</Words>
  <Application>Microsoft Office PowerPoint</Application>
  <PresentationFormat>Prilagođeno</PresentationFormat>
  <Paragraphs>98</Paragraphs>
  <Slides>12</Slides>
  <Notes>1</Notes>
  <HiddenSlides>0</HiddenSlides>
  <MMClips>0</MMClips>
  <ScaleCrop>false</ScaleCrop>
  <HeadingPairs>
    <vt:vector size="6" baseType="variant">
      <vt:variant>
        <vt:lpstr>Korišteni fontovi</vt:lpstr>
      </vt:variant>
      <vt:variant>
        <vt:i4>7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12</vt:i4>
      </vt:variant>
    </vt:vector>
  </HeadingPairs>
  <TitlesOfParts>
    <vt:vector size="20" baseType="lpstr">
      <vt:lpstr>Bahnschrift Condensed</vt:lpstr>
      <vt:lpstr>Calibri</vt:lpstr>
      <vt:lpstr>Arial</vt:lpstr>
      <vt:lpstr>Lato Bold</vt:lpstr>
      <vt:lpstr>Poppins Bold</vt:lpstr>
      <vt:lpstr>Poppins</vt:lpstr>
      <vt:lpstr>Lato</vt:lpstr>
      <vt:lpstr>Office Theme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Elegant and Modern Startup Pitch Deck Presentation</dc:title>
  <dc:creator>PC</dc:creator>
  <cp:lastModifiedBy>Tamara Kaselj</cp:lastModifiedBy>
  <cp:revision>34</cp:revision>
  <dcterms:created xsi:type="dcterms:W3CDTF">2006-08-16T00:00:00Z</dcterms:created>
  <dcterms:modified xsi:type="dcterms:W3CDTF">2026-05-04T09:01:02Z</dcterms:modified>
  <dc:identifier>DAHDktq8P2s</dc:identifier>
</cp:coreProperties>
</file>